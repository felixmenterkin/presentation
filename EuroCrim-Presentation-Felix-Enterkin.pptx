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4" r:id="rId7"/>
    <p:sldId id="267" r:id="rId8"/>
    <p:sldId id="269" r:id="rId9"/>
    <p:sldId id="273" r:id="rId10"/>
    <p:sldId id="260" r:id="rId11"/>
    <p:sldId id="274" r:id="rId12"/>
    <p:sldId id="263" r:id="rId13"/>
    <p:sldId id="265" r:id="rId14"/>
    <p:sldId id="266" r:id="rId15"/>
    <p:sldId id="26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87"/>
    <p:restoredTop sz="94682"/>
  </p:normalViewPr>
  <p:slideViewPr>
    <p:cSldViewPr snapToGrid="0">
      <p:cViewPr>
        <p:scale>
          <a:sx n="103" d="100"/>
          <a:sy n="103" d="100"/>
        </p:scale>
        <p:origin x="1392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2039F-9878-147D-7E4F-792D316BF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403B1C-A0BD-2CA6-5C3A-E4EA208E17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D6B893-D7C6-7103-E4C8-12702AD12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5EF93F-6F7C-522C-53EF-16EB520CB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DA07E-7DDB-17D1-3FB6-9EC00319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972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07B02-B2DF-1D70-2E2B-C86E725AA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7F28A-D6B1-6B3F-BB6E-91E42C7831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A3A6A-FBE5-7CCC-2E63-C1DB0E86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D8A99-BE96-F1DB-0B4A-47FF74965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1F551-5896-20CE-091F-5E866108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508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6E425-094B-296E-76F2-9732B669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728666-95F6-FAE9-718A-98AC3F85B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B2478-FA75-3C66-65AE-D4A561095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94177-3121-6210-8626-104BCFD69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2253A-C7C2-727D-EA35-688E9DBCF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063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3D917-9960-F3DC-4334-0B8FEE644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ED5DA-DFA7-24BB-1FA7-3787008B48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24634A-61EC-EF11-ED64-43F8C8B3E0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25DA74-B011-F748-D8A1-7F22936BA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0F9E65-2B4C-2847-5F19-B463B9919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BF2DD3-8CB2-37A4-B43C-930C57AAA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59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AE88F-5476-C6C3-C6B2-C0A75CEE7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B0DF8-0C58-9142-C73B-98A884616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E25CA3-911B-A069-86CF-87C6E27651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076FF6-B486-4BA4-290C-F701B6913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B2AE2A-51DB-91B8-1581-BB0ABD90ED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EF143F-358D-8EE0-10A3-5CADCDBC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936002-6161-6108-C0F9-802BE874F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742227-167A-5095-FCC8-B1144F093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221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A58BB-5D14-C897-2621-A926E9877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407F40-27D2-D47A-D022-0931779DC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6BCE3B-DD43-0142-BBF7-C7D6504AF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A2715-5A37-F324-6174-8C18382DE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52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58AF1C-5DA9-0C11-73F2-1064E902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59AD8D-C6B8-B70B-50F2-65CE39E89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AC457-E854-B83F-BC50-B2F7C88B2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081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1B5A5-1FE2-6BF4-B02F-04B869360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FD491-AEF6-7597-FF2B-96EF66667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27D66F-E33D-E289-6ACA-B1B256B9BF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6F8001-63C1-A25D-581A-276AFDD70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571A17-65F6-B4EB-EA2C-B80B34432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532E88-5CBC-AC6C-9B68-8FC78F708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819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3E16-D72F-A218-5B12-12C41D6B7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2D1F9E-64F1-0E03-4814-6E739DCA68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D77DF8-4AFC-D809-E20A-1374F62D82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7AD71-5394-60BB-FD6A-19354A875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5C2005-FCBE-CDAC-5673-71E2D8F0F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3ED6BC-9486-8386-5164-90D95CC36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65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3745C-2C40-B5EE-4708-B2E17E82D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6FB15E-6D7E-B5C1-58D6-7ED108E993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305D6-AF1A-BA51-620B-ABF1B8AF6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26DF74-966E-9A06-C978-A6A8AC166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E2840F-C185-C1AB-896F-9D1CF19C2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88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17F2D2-82B7-98CA-9570-238E9795E0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463B7F-FF82-93A8-0C9B-E7349101F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7D26D-9672-4248-3E7B-5870FBDA8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BB0A1-7469-9588-970A-83F12C20F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55F3A-4683-4AF0-748F-09F4BE91E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506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4501FF-7C91-1F81-07A7-2CA1A9392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B9CD13-B1CF-8E99-2635-0B13A765E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62FBD-D4D7-99C1-214D-4FE068F219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1C8E9-15CD-8256-B339-0620AE088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6DDF99-0C35-55B0-FC75-3ED0964B72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615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CC8B24-0C89-5F69-3624-504E3BC1B1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 b="1">
                <a:solidFill>
                  <a:srgbClr val="FFFFFF"/>
                </a:solidFill>
              </a:rPr>
              <a:t>External shocks and police legitimacy</a:t>
            </a:r>
            <a:r>
              <a:rPr lang="en-GB" sz="4800">
                <a:solidFill>
                  <a:srgbClr val="FFFFFF"/>
                </a:solidFill>
                <a:effectLst/>
              </a:rPr>
              <a:t> </a:t>
            </a:r>
            <a:endParaRPr lang="en-US" sz="48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FF6B47-3E38-72A7-9CA1-392964631C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Felix M. Enterkin</a:t>
            </a:r>
          </a:p>
          <a:p>
            <a:pPr algn="l"/>
            <a:r>
              <a:rPr lang="en-US" dirty="0"/>
              <a:t>Northwestern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739038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CBF0E7-0129-C39E-C4A3-082DFF694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Background 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C3D40-7C3B-64A3-D62F-AF2D7C819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US" sz="2000" dirty="0"/>
              <a:t>Police legitimacy is often viewed as a matter of procedural justice (Tyler 1990), but less is known about the influence of external factors.</a:t>
            </a:r>
          </a:p>
          <a:p>
            <a:r>
              <a:rPr lang="en-US" sz="2000" dirty="0"/>
              <a:t>Multiple factors may influence how people view and identify with police authority, from core normative values to contextual factors</a:t>
            </a:r>
          </a:p>
          <a:p>
            <a:r>
              <a:rPr lang="en-US" sz="2000" dirty="0"/>
              <a:t>There is some evidence to suggest crisis point are associated with changes in public perceptions of police authority, including:</a:t>
            </a:r>
          </a:p>
          <a:p>
            <a:pPr lvl="1"/>
            <a:r>
              <a:rPr lang="en-US" sz="1600" dirty="0"/>
              <a:t>Public health emergencies (Silbey 2021), </a:t>
            </a:r>
          </a:p>
          <a:p>
            <a:pPr lvl="1"/>
            <a:r>
              <a:rPr lang="en-US" sz="1600" dirty="0"/>
              <a:t>Terrorist attacks (LaFree and Adamczyk 2017), </a:t>
            </a:r>
          </a:p>
          <a:p>
            <a:pPr marL="457200" lvl="1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I ask whether a terrorist attack has a </a:t>
            </a:r>
            <a:r>
              <a:rPr lang="en-US" sz="2000" i="1" dirty="0"/>
              <a:t>causal </a:t>
            </a:r>
            <a:r>
              <a:rPr lang="en-US" sz="2000" dirty="0"/>
              <a:t>impact on perceptions of police legitimacy.</a:t>
            </a:r>
          </a:p>
        </p:txBody>
      </p:sp>
    </p:spTree>
    <p:extLst>
      <p:ext uri="{BB962C8B-B14F-4D97-AF65-F5344CB8AC3E}">
        <p14:creationId xmlns:p14="http://schemas.microsoft.com/office/powerpoint/2010/main" val="798751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36B3CB-CD6D-09FD-A34B-953D561B7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Theory: The Rally-Round-the-Flag 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5F75C-A4F1-8CA0-16B9-1EF797D2A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 dirty="0"/>
              <a:t>Exogenous shocks, such as terrorist attacks, often generate a rally effect :</a:t>
            </a:r>
          </a:p>
          <a:p>
            <a:pPr lvl="1"/>
            <a:r>
              <a:rPr lang="en-US" sz="2000" dirty="0"/>
              <a:t>Increased support for the nation and institutions, increased outgroup hostility, and conservative shift  (Godefroidt 2023).</a:t>
            </a:r>
          </a:p>
          <a:p>
            <a:pPr marL="0" indent="0">
              <a:buNone/>
            </a:pPr>
            <a:r>
              <a:rPr lang="en-US" sz="2000" dirty="0"/>
              <a:t>This is consistent with in-group/out-group theories that suggest an external threat will drive social cohesion and solidarity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This observed rally effect is driven by an ingroup/outgroup identification response</a:t>
            </a:r>
          </a:p>
          <a:p>
            <a:pPr lvl="1"/>
            <a:r>
              <a:rPr lang="en-US" sz="2000" dirty="0"/>
              <a:t>Threats create a salient distinction between the threat and the political community under attack </a:t>
            </a:r>
          </a:p>
          <a:p>
            <a:pPr lvl="1"/>
            <a:r>
              <a:rPr lang="en-US" sz="2000" dirty="0"/>
              <a:t>The police may be perceived as part of the collective under attack and benefit from an increase in support 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1808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0A1D95-4F26-3B43-E693-A0188E52E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Theoretical Expectations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38C70-3BDB-D7DD-CBD8-9143A9008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endParaRPr lang="en-US" sz="2400" dirty="0"/>
          </a:p>
          <a:p>
            <a:r>
              <a:rPr lang="en-US" sz="2400" dirty="0"/>
              <a:t>Hypothesis 1: Exposure to a Terrorist Attack will increase perceptions of police legitimacy 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Hypothesis 2: This effect will diminish with time and return to pre-event levels</a:t>
            </a:r>
          </a:p>
        </p:txBody>
      </p:sp>
    </p:spTree>
    <p:extLst>
      <p:ext uri="{BB962C8B-B14F-4D97-AF65-F5344CB8AC3E}">
        <p14:creationId xmlns:p14="http://schemas.microsoft.com/office/powerpoint/2010/main" val="2232462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B69064-AEEF-4658-6C17-9080F5DA3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Quasi-Experimental Design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D0CA0-378F-19E0-5DAE-38416FF2E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590741"/>
            <a:ext cx="9724031" cy="441081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 dirty="0"/>
              <a:t>I leverage an unexpected event during survey design (Munoz et al 2020)</a:t>
            </a:r>
          </a:p>
          <a:p>
            <a:pPr lvl="1"/>
            <a:r>
              <a:rPr lang="en-US" sz="1700" dirty="0"/>
              <a:t>Exploit overlap with a terrorist attack and survey fieldwork (European Social Survey, Round 5)</a:t>
            </a:r>
          </a:p>
          <a:p>
            <a:pPr lvl="1"/>
            <a:r>
              <a:rPr lang="en-US" sz="1700" dirty="0"/>
              <a:t>Respondents immediately before and after the event survey are used as control and treatment groups</a:t>
            </a:r>
          </a:p>
          <a:p>
            <a:pPr lvl="1"/>
            <a:r>
              <a:rPr lang="en-US" sz="1700" dirty="0"/>
              <a:t>Those surveyed after the event are assumed to be ‘exposed’ to terrorism</a:t>
            </a:r>
          </a:p>
          <a:p>
            <a:pPr marL="457200" lvl="1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/>
              <a:t>Two Case Studies:</a:t>
            </a:r>
          </a:p>
          <a:p>
            <a:r>
              <a:rPr lang="en-US" sz="1700" dirty="0"/>
              <a:t>Stockholm Bombing 2010, Sweden</a:t>
            </a:r>
          </a:p>
          <a:p>
            <a:r>
              <a:rPr lang="en-US" sz="1700" dirty="0"/>
              <a:t>Domodedovo Airport Bombing 2011, Russia</a:t>
            </a:r>
          </a:p>
        </p:txBody>
      </p:sp>
    </p:spTree>
    <p:extLst>
      <p:ext uri="{BB962C8B-B14F-4D97-AF65-F5344CB8AC3E}">
        <p14:creationId xmlns:p14="http://schemas.microsoft.com/office/powerpoint/2010/main" val="349939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EFFD76-67FF-8DBD-1612-25D9BB54C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Measures: Six-Legitimacy-Related Attitudes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12DE9-7944-243A-883C-65888B4CB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891970"/>
            <a:ext cx="9724031" cy="410958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 dirty="0"/>
              <a:t>Round 5 of the ESS includes a </a:t>
            </a:r>
            <a:r>
              <a:rPr lang="en-US" sz="2000" i="1" dirty="0"/>
              <a:t>Trust in Justice </a:t>
            </a:r>
            <a:r>
              <a:rPr lang="en-US" sz="2000" dirty="0"/>
              <a:t>model </a:t>
            </a:r>
          </a:p>
          <a:p>
            <a:pPr marL="0" indent="0">
              <a:buNone/>
            </a:pPr>
            <a:r>
              <a:rPr lang="en-US" sz="2000" dirty="0"/>
              <a:t>Legitimacy is broken down into multiple separate components:</a:t>
            </a:r>
          </a:p>
          <a:p>
            <a:r>
              <a:rPr lang="en-US" sz="2000" dirty="0"/>
              <a:t>Trust in the police </a:t>
            </a:r>
          </a:p>
          <a:p>
            <a:r>
              <a:rPr lang="en-US" sz="2000" dirty="0"/>
              <a:t>Obligation to obey the police</a:t>
            </a:r>
          </a:p>
          <a:p>
            <a:r>
              <a:rPr lang="en-US" sz="2000" dirty="0"/>
              <a:t>Moral alignment with police </a:t>
            </a:r>
          </a:p>
          <a:p>
            <a:r>
              <a:rPr lang="en-US" sz="2000" dirty="0"/>
              <a:t>Perception of police as lawful</a:t>
            </a:r>
          </a:p>
          <a:p>
            <a:r>
              <a:rPr lang="en-US" sz="2000" dirty="0"/>
              <a:t>Perception of procedural fairness </a:t>
            </a:r>
          </a:p>
          <a:p>
            <a:r>
              <a:rPr lang="en-US" sz="2000" dirty="0"/>
              <a:t>Perceptions of police effectiveness</a:t>
            </a:r>
          </a:p>
        </p:txBody>
      </p:sp>
    </p:spTree>
    <p:extLst>
      <p:ext uri="{BB962C8B-B14F-4D97-AF65-F5344CB8AC3E}">
        <p14:creationId xmlns:p14="http://schemas.microsoft.com/office/powerpoint/2010/main" val="1195359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94DE59-C6DA-D91A-0CEA-1D7E4AAF9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2488"/>
            <a:ext cx="2899189" cy="4363844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The Two Cases, Two Contexts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A84347-F4AA-755F-8CC4-19762B59CC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412489"/>
            <a:ext cx="3427283" cy="4363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Policing in Sweden </a:t>
            </a:r>
          </a:p>
          <a:p>
            <a:r>
              <a:rPr lang="en-US" sz="2000" dirty="0"/>
              <a:t>High levels of legitimacy </a:t>
            </a:r>
          </a:p>
          <a:p>
            <a:r>
              <a:rPr lang="en-US" sz="2000" dirty="0"/>
              <a:t>Characterized by a procedural justice model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Event: Stockholm Bombing 2010</a:t>
            </a:r>
          </a:p>
          <a:p>
            <a:r>
              <a:rPr lang="en-US" sz="2000" dirty="0"/>
              <a:t>Small attack (botched)</a:t>
            </a:r>
          </a:p>
          <a:p>
            <a:r>
              <a:rPr lang="en-US" sz="2000" dirty="0"/>
              <a:t>2 injured, attacker killed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75AE3A-5890-90D3-E7D4-A309913029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3197701" cy="4363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Policing in Russia </a:t>
            </a:r>
          </a:p>
          <a:p>
            <a:r>
              <a:rPr lang="en-US" sz="2000" dirty="0"/>
              <a:t>Low levels of legitimacy </a:t>
            </a:r>
          </a:p>
          <a:p>
            <a:r>
              <a:rPr lang="en-US" sz="2000" dirty="0"/>
              <a:t>Characterized by bribery and corruption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Event: Domodedovo Airport Bombing 2011</a:t>
            </a:r>
          </a:p>
          <a:p>
            <a:r>
              <a:rPr lang="en-US" sz="2000" dirty="0"/>
              <a:t>Large attack </a:t>
            </a:r>
          </a:p>
          <a:p>
            <a:r>
              <a:rPr lang="en-US" sz="2000" dirty="0"/>
              <a:t>37 killed, 160+ injured</a:t>
            </a:r>
          </a:p>
        </p:txBody>
      </p:sp>
    </p:spTree>
    <p:extLst>
      <p:ext uri="{BB962C8B-B14F-4D97-AF65-F5344CB8AC3E}">
        <p14:creationId xmlns:p14="http://schemas.microsoft.com/office/powerpoint/2010/main" val="1658570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0CAF1B-607E-3CFF-F048-AF4169B6D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B6883568-E504-64EB-4966-B14D1C6302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784A4-36C7-A484-0DA8-8FF3DEF43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Intention-to-Treat effect Estimates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38AD5DE-7CE4-5FCB-69F9-F96B0398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797631D-CB56-0603-2A2B-0DA01E12E6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94267-F00B-15C1-8403-FAD1216DC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Two approaches are used to estimate the intention to treat effect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Canonical regression discontinuity design using robust estimates and confidence intervals </a:t>
            </a:r>
          </a:p>
          <a:p>
            <a:pPr lvl="1"/>
            <a:r>
              <a:rPr lang="en-US" sz="2000" dirty="0"/>
              <a:t>Triangular weights assign more weight to observations close to the event</a:t>
            </a:r>
          </a:p>
          <a:p>
            <a:pPr lvl="1"/>
            <a:r>
              <a:rPr lang="en-US" sz="2000" dirty="0"/>
              <a:t>Estimates capture the shift in intercept at the event date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A local randomization approach to regression discontinuity </a:t>
            </a:r>
          </a:p>
          <a:p>
            <a:pPr lvl="1"/>
            <a:r>
              <a:rPr lang="en-US" sz="2000" dirty="0"/>
              <a:t>Difference in mean in treatment vs control in a small window either side of the event</a:t>
            </a:r>
          </a:p>
          <a:p>
            <a:pPr lvl="1"/>
            <a:r>
              <a:rPr lang="en-US" sz="2000" dirty="0"/>
              <a:t>Bandwidths are run from 1 to 8 weeks to assess the duration of effect</a:t>
            </a:r>
          </a:p>
        </p:txBody>
      </p:sp>
    </p:spTree>
    <p:extLst>
      <p:ext uri="{BB962C8B-B14F-4D97-AF65-F5344CB8AC3E}">
        <p14:creationId xmlns:p14="http://schemas.microsoft.com/office/powerpoint/2010/main" val="3321715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1C43E0-3A44-590F-41A2-859394232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6648866-898D-B551-1BAD-CB656D0C22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A74177-5481-F7C8-DCA7-1E6C12E93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Case Study 1 – Sweden –  Robust Estimates</a:t>
            </a:r>
          </a:p>
        </p:txBody>
      </p:sp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064020A5-8965-F8C1-19AA-2FDF9CA6C2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6114657"/>
              </p:ext>
            </p:extLst>
          </p:nvPr>
        </p:nvGraphicFramePr>
        <p:xfrm>
          <a:off x="1023552" y="1578490"/>
          <a:ext cx="9924534" cy="479759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57298">
                  <a:extLst>
                    <a:ext uri="{9D8B030D-6E8A-4147-A177-3AD203B41FA5}">
                      <a16:colId xmlns:a16="http://schemas.microsoft.com/office/drawing/2014/main" val="825042725"/>
                    </a:ext>
                  </a:extLst>
                </a:gridCol>
                <a:gridCol w="1258193">
                  <a:extLst>
                    <a:ext uri="{9D8B030D-6E8A-4147-A177-3AD203B41FA5}">
                      <a16:colId xmlns:a16="http://schemas.microsoft.com/office/drawing/2014/main" val="2120962328"/>
                    </a:ext>
                  </a:extLst>
                </a:gridCol>
                <a:gridCol w="1397224">
                  <a:extLst>
                    <a:ext uri="{9D8B030D-6E8A-4147-A177-3AD203B41FA5}">
                      <a16:colId xmlns:a16="http://schemas.microsoft.com/office/drawing/2014/main" val="1851803325"/>
                    </a:ext>
                  </a:extLst>
                </a:gridCol>
                <a:gridCol w="839124">
                  <a:extLst>
                    <a:ext uri="{9D8B030D-6E8A-4147-A177-3AD203B41FA5}">
                      <a16:colId xmlns:a16="http://schemas.microsoft.com/office/drawing/2014/main" val="2021045766"/>
                    </a:ext>
                  </a:extLst>
                </a:gridCol>
                <a:gridCol w="978155">
                  <a:extLst>
                    <a:ext uri="{9D8B030D-6E8A-4147-A177-3AD203B41FA5}">
                      <a16:colId xmlns:a16="http://schemas.microsoft.com/office/drawing/2014/main" val="286921990"/>
                    </a:ext>
                  </a:extLst>
                </a:gridCol>
                <a:gridCol w="839124">
                  <a:extLst>
                    <a:ext uri="{9D8B030D-6E8A-4147-A177-3AD203B41FA5}">
                      <a16:colId xmlns:a16="http://schemas.microsoft.com/office/drawing/2014/main" val="3247320102"/>
                    </a:ext>
                  </a:extLst>
                </a:gridCol>
                <a:gridCol w="1382671">
                  <a:extLst>
                    <a:ext uri="{9D8B030D-6E8A-4147-A177-3AD203B41FA5}">
                      <a16:colId xmlns:a16="http://schemas.microsoft.com/office/drawing/2014/main" val="4006681848"/>
                    </a:ext>
                  </a:extLst>
                </a:gridCol>
                <a:gridCol w="1272745">
                  <a:extLst>
                    <a:ext uri="{9D8B030D-6E8A-4147-A177-3AD203B41FA5}">
                      <a16:colId xmlns:a16="http://schemas.microsoft.com/office/drawing/2014/main" val="2576040766"/>
                    </a:ext>
                  </a:extLst>
                </a:gridCol>
              </a:tblGrid>
              <a:tr h="622094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 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Estimate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Robust CI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SE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p value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N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Effective N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Bandwidth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9121237"/>
                  </a:ext>
                </a:extLst>
              </a:tr>
              <a:tr h="479470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Trust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1.19***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(0.37, .02)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0.42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0.005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1476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196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10.93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0852712"/>
                  </a:ext>
                </a:extLst>
              </a:tr>
              <a:tr h="479470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Obligation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1.07***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(0.39, 1.76)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0.35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0.002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1472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236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14.05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58120626"/>
                  </a:ext>
                </a:extLst>
              </a:tr>
              <a:tr h="1036049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Procedural Fairness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1.08***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(0.40, 1.77)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0.34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0.002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1470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234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13.53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67978480"/>
                  </a:ext>
                </a:extLst>
              </a:tr>
              <a:tr h="479470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Moral alignment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1.20***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(0.52,1.87)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0.34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0.000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1479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235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14.21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55126523"/>
                  </a:ext>
                </a:extLst>
              </a:tr>
              <a:tr h="479470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Lawfulness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0.083*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(0.17,1.49)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0.35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0.014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1380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217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13.6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79601891"/>
                  </a:ext>
                </a:extLst>
              </a:tr>
              <a:tr h="1221575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Effectiveness</a:t>
                      </a:r>
                      <a:endParaRPr lang="en-GB" sz="2400" spc="-5">
                        <a:effectLst/>
                      </a:endParaRPr>
                    </a:p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 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0.70*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(0,1.39)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0.35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0.0495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1434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266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16.7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243445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6192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B49A83-E44B-5DC9-EBFA-9DD8B997E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Case Study 1 – Sweden – Local Randomization Estimates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C883BC3-AAC1-3AAE-F841-22566233D1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79546" y="1675227"/>
            <a:ext cx="6232907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912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471E2-0BCB-AED7-7096-B7B0AEDFE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62200CA-4685-8988-E73F-EC3BAF3BA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62BE77-EC6A-F927-0D48-BD8CF481A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Case Study 2 – Russia – Robust Estimates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5646C1-EC19-128C-B956-2C8EF793F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B8246C31-B8B7-3E42-C5A9-6AE5C5D2158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35698664"/>
              </p:ext>
            </p:extLst>
          </p:nvPr>
        </p:nvGraphicFramePr>
        <p:xfrm>
          <a:off x="556532" y="1710567"/>
          <a:ext cx="11098426" cy="45814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188810">
                  <a:extLst>
                    <a:ext uri="{9D8B030D-6E8A-4147-A177-3AD203B41FA5}">
                      <a16:colId xmlns:a16="http://schemas.microsoft.com/office/drawing/2014/main" val="825042725"/>
                    </a:ext>
                  </a:extLst>
                </a:gridCol>
                <a:gridCol w="1407015">
                  <a:extLst>
                    <a:ext uri="{9D8B030D-6E8A-4147-A177-3AD203B41FA5}">
                      <a16:colId xmlns:a16="http://schemas.microsoft.com/office/drawing/2014/main" val="2120962328"/>
                    </a:ext>
                  </a:extLst>
                </a:gridCol>
                <a:gridCol w="1562489">
                  <a:extLst>
                    <a:ext uri="{9D8B030D-6E8A-4147-A177-3AD203B41FA5}">
                      <a16:colId xmlns:a16="http://schemas.microsoft.com/office/drawing/2014/main" val="1851803325"/>
                    </a:ext>
                  </a:extLst>
                </a:gridCol>
                <a:gridCol w="938377">
                  <a:extLst>
                    <a:ext uri="{9D8B030D-6E8A-4147-A177-3AD203B41FA5}">
                      <a16:colId xmlns:a16="http://schemas.microsoft.com/office/drawing/2014/main" val="2021045766"/>
                    </a:ext>
                  </a:extLst>
                </a:gridCol>
                <a:gridCol w="1093853">
                  <a:extLst>
                    <a:ext uri="{9D8B030D-6E8A-4147-A177-3AD203B41FA5}">
                      <a16:colId xmlns:a16="http://schemas.microsoft.com/office/drawing/2014/main" val="286921990"/>
                    </a:ext>
                  </a:extLst>
                </a:gridCol>
                <a:gridCol w="938377">
                  <a:extLst>
                    <a:ext uri="{9D8B030D-6E8A-4147-A177-3AD203B41FA5}">
                      <a16:colId xmlns:a16="http://schemas.microsoft.com/office/drawing/2014/main" val="3247320102"/>
                    </a:ext>
                  </a:extLst>
                </a:gridCol>
                <a:gridCol w="1587169">
                  <a:extLst>
                    <a:ext uri="{9D8B030D-6E8A-4147-A177-3AD203B41FA5}">
                      <a16:colId xmlns:a16="http://schemas.microsoft.com/office/drawing/2014/main" val="4006681848"/>
                    </a:ext>
                  </a:extLst>
                </a:gridCol>
                <a:gridCol w="1382336">
                  <a:extLst>
                    <a:ext uri="{9D8B030D-6E8A-4147-A177-3AD203B41FA5}">
                      <a16:colId xmlns:a16="http://schemas.microsoft.com/office/drawing/2014/main" val="2576040766"/>
                    </a:ext>
                  </a:extLst>
                </a:gridCol>
              </a:tblGrid>
              <a:tr h="546787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 dirty="0">
                          <a:effectLst/>
                        </a:rPr>
                        <a:t> </a:t>
                      </a:r>
                      <a:endParaRPr lang="en-GB" sz="28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 dirty="0">
                          <a:effectLst/>
                        </a:rPr>
                        <a:t>Estimate</a:t>
                      </a:r>
                      <a:endParaRPr lang="en-GB" sz="28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Robust CI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SE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p value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N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 dirty="0">
                          <a:effectLst/>
                        </a:rPr>
                        <a:t>Effective N</a:t>
                      </a:r>
                      <a:endParaRPr lang="en-GB" sz="28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Bandwidth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9121237"/>
                  </a:ext>
                </a:extLst>
              </a:tr>
              <a:tr h="421428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Trust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1.51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(-0.47, 3.49)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1.01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0.1346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2471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347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8.35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extLst>
                  <a:ext uri="{0D108BD9-81ED-4DB2-BD59-A6C34878D82A}">
                    <a16:rowId xmlns:a16="http://schemas.microsoft.com/office/drawing/2014/main" val="2830852712"/>
                  </a:ext>
                </a:extLst>
              </a:tr>
              <a:tr h="421428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Obligation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0.13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(-2.13, 2.39)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1.15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0.91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2458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345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8.45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extLst>
                  <a:ext uri="{0D108BD9-81ED-4DB2-BD59-A6C34878D82A}">
                    <a16:rowId xmlns:a16="http://schemas.microsoft.com/office/drawing/2014/main" val="3258120626"/>
                  </a:ext>
                </a:extLst>
              </a:tr>
              <a:tr h="910632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 dirty="0">
                          <a:effectLst/>
                        </a:rPr>
                        <a:t>Procedural Fairness</a:t>
                      </a:r>
                      <a:endParaRPr lang="en-GB" sz="28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0.86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(-0.79, 2.52)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0.85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0.3075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2141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380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9.43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extLst>
                  <a:ext uri="{0D108BD9-81ED-4DB2-BD59-A6C34878D82A}">
                    <a16:rowId xmlns:a16="http://schemas.microsoft.com/office/drawing/2014/main" val="1967978480"/>
                  </a:ext>
                </a:extLst>
              </a:tr>
              <a:tr h="421428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Moral alignment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0.18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(-0.43, 0.79)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0.31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0.5633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2508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424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9.54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extLst>
                  <a:ext uri="{0D108BD9-81ED-4DB2-BD59-A6C34878D82A}">
                    <a16:rowId xmlns:a16="http://schemas.microsoft.com/office/drawing/2014/main" val="2655126523"/>
                  </a:ext>
                </a:extLst>
              </a:tr>
              <a:tr h="421428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Lawfulness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0.3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(-0.24, 0.84)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0.28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0.2756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2429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344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8.32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extLst>
                  <a:ext uri="{0D108BD9-81ED-4DB2-BD59-A6C34878D82A}">
                    <a16:rowId xmlns:a16="http://schemas.microsoft.com/office/drawing/2014/main" val="3979601891"/>
                  </a:ext>
                </a:extLst>
              </a:tr>
              <a:tr h="1073699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Effectiveness</a:t>
                      </a:r>
                      <a:endParaRPr lang="en-GB" sz="2800" spc="-5">
                        <a:effectLst/>
                      </a:endParaRPr>
                    </a:p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 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-1.07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(-2.88, 0.74)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0.92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0.247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2395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327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8.4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extLst>
                  <a:ext uri="{0D108BD9-81ED-4DB2-BD59-A6C34878D82A}">
                    <a16:rowId xmlns:a16="http://schemas.microsoft.com/office/drawing/2014/main" val="9243445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5580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3043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730CBB-61C0-40FC-DDA3-DD8EFDAF2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532214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Case Study 2: Russia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79FE80A-985F-7177-FCBD-973086431B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05079" y="364587"/>
            <a:ext cx="6351876" cy="482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181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B8299-6D83-6F7D-3D1E-029903033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Summary of Findings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FE0A1-7A5F-0CB0-B3CB-2A40F9A6F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2000" dirty="0"/>
              <a:t>In Sweden all attitudes shift significantly upwards in response to a threat</a:t>
            </a:r>
          </a:p>
          <a:p>
            <a:r>
              <a:rPr lang="en-US" sz="2000" dirty="0"/>
              <a:t>In Russia Attitudes are unchanged if not in decline</a:t>
            </a:r>
          </a:p>
          <a:p>
            <a:r>
              <a:rPr lang="en-US" sz="2000" dirty="0"/>
              <a:t>Robustness test suggest the three variables that shift were declining in Russia before the attacks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Possible explanations:</a:t>
            </a:r>
          </a:p>
          <a:p>
            <a:r>
              <a:rPr lang="en-US" sz="2000" dirty="0"/>
              <a:t>Existing explanations suggest scale of frequency of attacks may determine whether a rally occurs</a:t>
            </a:r>
          </a:p>
          <a:p>
            <a:r>
              <a:rPr lang="en-US" sz="2000" dirty="0"/>
              <a:t>In Russia perceptions of and identification with the police are low, they may not be viewed as part of the community </a:t>
            </a:r>
          </a:p>
        </p:txBody>
      </p:sp>
    </p:spTree>
    <p:extLst>
      <p:ext uri="{BB962C8B-B14F-4D97-AF65-F5344CB8AC3E}">
        <p14:creationId xmlns:p14="http://schemas.microsoft.com/office/powerpoint/2010/main" val="2932200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3314F0-DC70-A3FC-5F3D-453380683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Implication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85E22-C435-677E-CCDF-D8CA0C14B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US" sz="2400" dirty="0"/>
              <a:t>Legitimacy can shift in line with exogenous events and shocks (at least temporarily)</a:t>
            </a:r>
          </a:p>
          <a:p>
            <a:r>
              <a:rPr lang="en-US" sz="2400" dirty="0"/>
              <a:t>All legitimacy measures shift I relative unison suggesting not simply an instrumental increase in support but a change in orientation towards police authority </a:t>
            </a:r>
          </a:p>
          <a:p>
            <a:r>
              <a:rPr lang="en-US" sz="2400" dirty="0"/>
              <a:t>While a terrorist attack may be sufficient to shift perceptions of police other factors are clearly at play 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49193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B79CA-1CB8-A133-67D7-E2B7AC1F94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9381C9-F679-F043-BF30-5B929A46A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43849"/>
            <a:ext cx="4145582" cy="4638825"/>
          </a:xfrm>
        </p:spPr>
        <p:txBody>
          <a:bodyPr anchor="t">
            <a:normAutofit/>
          </a:bodyPr>
          <a:lstStyle/>
          <a:p>
            <a:r>
              <a:rPr lang="en-US" dirty="0"/>
              <a:t>Thank you!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D94C-AA87-1E44-AB6A-5EA413B6118B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VSVAR" val="TitledTextBox"/>
                    <p202:designTag name="ARCH:1:CLS" val="InformationBlock"/>
                  </p202:designTagLst>
                </p202:designPr>
              </p:ext>
            </p:extLst>
          </p:nvPr>
        </p:nvSpPr>
        <p:spPr>
          <a:xfrm>
            <a:off x="4995333" y="745067"/>
            <a:ext cx="6218145" cy="5616850"/>
          </a:xfrm>
        </p:spPr>
        <p:txBody>
          <a:bodyPr>
            <a:normAutofit/>
          </a:bodyPr>
          <a:lstStyle/>
          <a:p>
            <a:pPr marL="0" lv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1600" b="1" dirty="0"/>
              <a:t>References</a:t>
            </a:r>
          </a:p>
          <a:p>
            <a:pPr marL="0" lvl="0" indent="0">
              <a:spcBef>
                <a:spcPts val="2500"/>
              </a:spcBef>
              <a:buNone/>
            </a:pPr>
            <a:r>
              <a:rPr lang="en-GB" sz="1600" dirty="0"/>
              <a:t>Godefroidt, A., 2023. How terrorism does (and does not) affect citizens’ political attitudes: A meta‐analysis. </a:t>
            </a:r>
            <a:r>
              <a:rPr lang="en-GB" sz="1600" i="1" dirty="0"/>
              <a:t>American journal of political science</a:t>
            </a:r>
            <a:r>
              <a:rPr lang="en-GB" sz="1600" dirty="0"/>
              <a:t>, </a:t>
            </a:r>
            <a:r>
              <a:rPr lang="en-GB" sz="1600" i="1" dirty="0"/>
              <a:t>67</a:t>
            </a:r>
            <a:r>
              <a:rPr lang="en-GB" sz="1600" dirty="0"/>
              <a:t>(1), pp.22-38.</a:t>
            </a:r>
            <a:endParaRPr lang="en-US" sz="1600" b="1" dirty="0"/>
          </a:p>
          <a:p>
            <a:pPr marL="0" lvl="0" indent="0">
              <a:spcBef>
                <a:spcPts val="2500"/>
              </a:spcBef>
              <a:buNone/>
            </a:pPr>
            <a:r>
              <a:rPr lang="en-GB" sz="1600" dirty="0"/>
              <a:t>LaFree, G. and Adamczyk, A., 2017. The impact of the Boston marathon bombings on public willingness to cooperate with police. </a:t>
            </a:r>
            <a:r>
              <a:rPr lang="en-GB" sz="1600" i="1" dirty="0"/>
              <a:t>Justice quarterly</a:t>
            </a:r>
            <a:r>
              <a:rPr lang="en-GB" sz="1600" dirty="0"/>
              <a:t>, </a:t>
            </a:r>
            <a:r>
              <a:rPr lang="en-GB" sz="1600" i="1" dirty="0"/>
              <a:t>34</a:t>
            </a:r>
            <a:r>
              <a:rPr lang="en-GB" sz="1600" dirty="0"/>
              <a:t>(3), pp.459-490.</a:t>
            </a:r>
            <a:endParaRPr lang="en-US" sz="1600" dirty="0"/>
          </a:p>
          <a:p>
            <a:pPr marL="0" lvl="0" indent="0">
              <a:spcBef>
                <a:spcPts val="2500"/>
              </a:spcBef>
              <a:buNone/>
            </a:pPr>
            <a:r>
              <a:rPr lang="en-GB" sz="1600" dirty="0"/>
              <a:t>Muñoz, J., Falcó-Gimeno, A. and Hernández, E., 2020. Unexpected event during survey design: Promise and pitfalls for causal inference. </a:t>
            </a:r>
            <a:r>
              <a:rPr lang="en-GB" sz="1600" i="1" dirty="0"/>
              <a:t>Political analysis</a:t>
            </a:r>
            <a:r>
              <a:rPr lang="en-GB" sz="1600" dirty="0"/>
              <a:t>, </a:t>
            </a:r>
            <a:r>
              <a:rPr lang="en-GB" sz="1600" i="1" dirty="0"/>
              <a:t>28</a:t>
            </a:r>
            <a:r>
              <a:rPr lang="en-GB" sz="1600" dirty="0"/>
              <a:t>(2), pp.186-206.</a:t>
            </a:r>
          </a:p>
          <a:p>
            <a:pPr marL="0" lvl="0" indent="0">
              <a:spcBef>
                <a:spcPts val="2500"/>
              </a:spcBef>
              <a:buNone/>
            </a:pPr>
            <a:r>
              <a:rPr lang="en-GB" sz="1600" dirty="0"/>
              <a:t>Sibley, C. G., Greaves, L. M., </a:t>
            </a:r>
            <a:r>
              <a:rPr lang="en-GB" sz="1600" dirty="0" err="1"/>
              <a:t>Satherley</a:t>
            </a:r>
            <a:r>
              <a:rPr lang="en-GB" sz="1600" dirty="0"/>
              <a:t>, N., Wilson, M. S., Overall, N. C., Lee, C. H. J., </a:t>
            </a:r>
            <a:r>
              <a:rPr lang="en-GB" sz="1600" dirty="0" err="1"/>
              <a:t>Milojev</a:t>
            </a:r>
            <a:r>
              <a:rPr lang="en-GB" sz="1600" dirty="0"/>
              <a:t>, P., </a:t>
            </a:r>
            <a:r>
              <a:rPr lang="en-GB" sz="1600" dirty="0" err="1"/>
              <a:t>Bulbulia</a:t>
            </a:r>
            <a:r>
              <a:rPr lang="en-GB" sz="1600" dirty="0"/>
              <a:t>, J., Osborne, D., </a:t>
            </a:r>
            <a:r>
              <a:rPr lang="en-GB" sz="1600" dirty="0" err="1"/>
              <a:t>Milfont</a:t>
            </a:r>
            <a:r>
              <a:rPr lang="en-GB" sz="1600" dirty="0"/>
              <a:t>, T. L., </a:t>
            </a:r>
            <a:r>
              <a:rPr lang="en-GB" sz="1600" dirty="0" err="1"/>
              <a:t>Houkamau</a:t>
            </a:r>
            <a:r>
              <a:rPr lang="en-GB" sz="1600" dirty="0"/>
              <a:t>, C. A., Duck, I. M., Vickers-Jones, R., &amp; Barlow, F. K. (2020). Effects of the COVID-19 pandemic and nationwide lockdown on trust, attitudes toward government, and well-being. </a:t>
            </a:r>
            <a:r>
              <a:rPr lang="en-GB" sz="1600" i="1" dirty="0"/>
              <a:t>American Psychologist, 75</a:t>
            </a:r>
            <a:r>
              <a:rPr lang="en-GB" sz="1600" dirty="0"/>
              <a:t>(5), 618–630. </a:t>
            </a:r>
          </a:p>
          <a:p>
            <a:pPr marL="0" lvl="0" indent="0">
              <a:spcBef>
                <a:spcPts val="2500"/>
              </a:spcBef>
              <a:buNone/>
            </a:pPr>
            <a:r>
              <a:rPr lang="en-GB" sz="1600" dirty="0"/>
              <a:t>Tyler, T.R., 1990. Why people obey the law.</a:t>
            </a:r>
            <a:r>
              <a:rPr lang="en-US" sz="1600" dirty="0"/>
              <a:t> </a:t>
            </a:r>
          </a:p>
          <a:p>
            <a:pPr marL="0" lvl="0" indent="0">
              <a:spcBef>
                <a:spcPts val="2500"/>
              </a:spcBef>
              <a:buFont typeface="Arial" panose="020B0604020202020204" pitchFamily="34" charset="0"/>
              <a:buNone/>
            </a:pPr>
            <a:endParaRPr lang="en-US" sz="1600" dirty="0"/>
          </a:p>
          <a:p>
            <a:pPr marL="0" lvl="0" indent="0">
              <a:spcBef>
                <a:spcPts val="2500"/>
              </a:spcBef>
              <a:buFont typeface="Arial" panose="020B0604020202020204" pitchFamily="34" charset="0"/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3851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5608</TotalTime>
  <Words>1086</Words>
  <Application>Microsoft Macintosh PowerPoint</Application>
  <PresentationFormat>Widescreen</PresentationFormat>
  <Paragraphs>204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Neue Haas Grotesk Text Pro</vt:lpstr>
      <vt:lpstr>system-ui</vt:lpstr>
      <vt:lpstr>Times New Roman</vt:lpstr>
      <vt:lpstr>Office Theme</vt:lpstr>
      <vt:lpstr>External shocks and police legitimacy </vt:lpstr>
      <vt:lpstr>Background </vt:lpstr>
      <vt:lpstr>Theory: The Rally-Round-the-Flag Effect</vt:lpstr>
      <vt:lpstr>Theoretical Expectations</vt:lpstr>
      <vt:lpstr>Quasi-Experimental Design </vt:lpstr>
      <vt:lpstr>Measures: Six-Legitimacy-Related Attitudes </vt:lpstr>
      <vt:lpstr>The Two Cases, Two Contexts </vt:lpstr>
      <vt:lpstr>Intention-to-Treat effect Estimates </vt:lpstr>
      <vt:lpstr>Case Study 1 – Sweden –  Robust Estimates</vt:lpstr>
      <vt:lpstr>Case Study 1 – Sweden – Local Randomization Estimates</vt:lpstr>
      <vt:lpstr>Case Study 2 – Russia – Robust Estimates</vt:lpstr>
      <vt:lpstr>Case Study 2: Russia</vt:lpstr>
      <vt:lpstr>Summary of Findings </vt:lpstr>
      <vt:lpstr>Implication </vt:lpstr>
      <vt:lpstr>Thank you!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Enterkin, Felix Matthew</dc:creator>
  <cp:lastModifiedBy>Enterkin, Felix Matthew</cp:lastModifiedBy>
  <cp:revision>1</cp:revision>
  <dcterms:created xsi:type="dcterms:W3CDTF">2026-09-07T08:27:50Z</dcterms:created>
  <dcterms:modified xsi:type="dcterms:W3CDTF">2026-09-11T05:56:45Z</dcterms:modified>
</cp:coreProperties>
</file>