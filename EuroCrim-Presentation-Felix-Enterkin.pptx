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2" r:id="rId4"/>
    <p:sldId id="258" r:id="rId5"/>
    <p:sldId id="259" r:id="rId6"/>
    <p:sldId id="264" r:id="rId7"/>
    <p:sldId id="267" r:id="rId8"/>
    <p:sldId id="268" r:id="rId9"/>
    <p:sldId id="260" r:id="rId10"/>
    <p:sldId id="263" r:id="rId11"/>
    <p:sldId id="265" r:id="rId12"/>
    <p:sldId id="266" r:id="rId13"/>
    <p:sldId id="26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487"/>
    <p:restoredTop sz="94682"/>
  </p:normalViewPr>
  <p:slideViewPr>
    <p:cSldViewPr snapToGrid="0">
      <p:cViewPr>
        <p:scale>
          <a:sx n="103" d="100"/>
          <a:sy n="103" d="100"/>
        </p:scale>
        <p:origin x="1392" y="7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2039F-9878-147D-7E4F-792D316BF55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C403B1C-A0BD-2CA6-5C3A-E4EA208E17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CD6B893-D7C6-7103-E4C8-12702AD12F55}"/>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5" name="Footer Placeholder 4">
            <a:extLst>
              <a:ext uri="{FF2B5EF4-FFF2-40B4-BE49-F238E27FC236}">
                <a16:creationId xmlns:a16="http://schemas.microsoft.com/office/drawing/2014/main" id="{DE5EF93F-6F7C-522C-53EF-16EB520CB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DA07E-7DDB-17D1-3FB6-9EC00319B242}"/>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1860972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07B02-B2DF-1D70-2E2B-C86E725AA53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E7F28A-D6B1-6B3F-BB6E-91E42C78319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0A3A6A-FBE5-7CCC-2E63-C1DB0E866A7B}"/>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5" name="Footer Placeholder 4">
            <a:extLst>
              <a:ext uri="{FF2B5EF4-FFF2-40B4-BE49-F238E27FC236}">
                <a16:creationId xmlns:a16="http://schemas.microsoft.com/office/drawing/2014/main" id="{E65D8A99-BE96-F1DB-0B4A-47FF749652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1F551-5896-20CE-091F-5E86610836BB}"/>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2179508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6E425-094B-296E-76F2-9732B66940A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2728666-95F6-FAE9-718A-98AC3F85B4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79B2478-FA75-3C66-65AE-D4A561095DFC}"/>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5" name="Footer Placeholder 4">
            <a:extLst>
              <a:ext uri="{FF2B5EF4-FFF2-40B4-BE49-F238E27FC236}">
                <a16:creationId xmlns:a16="http://schemas.microsoft.com/office/drawing/2014/main" id="{E4694177-3121-6210-8626-104BCFD694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C2253A-C7C2-727D-EA35-688E9DBCFF67}"/>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1742063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3D917-9960-F3DC-4334-0B8FEE644C4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E5ED5DA-DFA7-24BB-1FA7-3787008B485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F24634A-61EC-EF11-ED64-43F8C8B3E04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F25DA74-B011-F748-D8A1-7F22936BA83C}"/>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6" name="Footer Placeholder 5">
            <a:extLst>
              <a:ext uri="{FF2B5EF4-FFF2-40B4-BE49-F238E27FC236}">
                <a16:creationId xmlns:a16="http://schemas.microsoft.com/office/drawing/2014/main" id="{D80F9E65-2B4C-2847-5F19-B463B9919B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BF2DD3-8CB2-37A4-B43C-930C57AAA67B}"/>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49559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AE88F-5476-C6C3-C6B2-C0A75CEE7BA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BDB0DF8-0C58-9142-C73B-98A8846164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E25CA3-911B-A069-86CF-87C6E276510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6076FF6-B486-4BA4-290C-F701B69138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7B2AE2A-51DB-91B8-1581-BB0ABD90ED8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3EF143F-358D-8EE0-10A3-5CADCDBCC1D3}"/>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8" name="Footer Placeholder 7">
            <a:extLst>
              <a:ext uri="{FF2B5EF4-FFF2-40B4-BE49-F238E27FC236}">
                <a16:creationId xmlns:a16="http://schemas.microsoft.com/office/drawing/2014/main" id="{C3936002-6161-6108-C0F9-802BE874F2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742227-167A-5095-FCC8-B1144F093625}"/>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4264221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58BB-5D14-C897-2621-A926E9877CA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4407F40-27D2-D47A-D022-0931779DC652}"/>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4" name="Footer Placeholder 3">
            <a:extLst>
              <a:ext uri="{FF2B5EF4-FFF2-40B4-BE49-F238E27FC236}">
                <a16:creationId xmlns:a16="http://schemas.microsoft.com/office/drawing/2014/main" id="{DF6BCE3B-DD43-0142-BBF7-C7D6504AF4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FA2715-5A37-F324-6174-8C18382DE433}"/>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1590852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58AF1C-5DA9-0C11-73F2-1064E902F33D}"/>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3" name="Footer Placeholder 2">
            <a:extLst>
              <a:ext uri="{FF2B5EF4-FFF2-40B4-BE49-F238E27FC236}">
                <a16:creationId xmlns:a16="http://schemas.microsoft.com/office/drawing/2014/main" id="{D359AD8D-C6B8-B70B-50F2-65CE39E891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2AC457-E854-B83F-BC50-B2F7C88B216C}"/>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579081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1B5A5-1FE2-6BF4-B02F-04B869360A5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A4FD491-AEF6-7597-FF2B-96EF666673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727D66F-E33D-E289-6ACA-B1B256B9BF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16F8001-63C1-A25D-581A-276AFDD70AC3}"/>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6" name="Footer Placeholder 5">
            <a:extLst>
              <a:ext uri="{FF2B5EF4-FFF2-40B4-BE49-F238E27FC236}">
                <a16:creationId xmlns:a16="http://schemas.microsoft.com/office/drawing/2014/main" id="{20571A17-65F6-B4EB-EA2C-B80B344320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532E88-5CBC-AC6C-9B68-8FC78F708B31}"/>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3785819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23E16-D72F-A218-5B12-12C41D6B71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82D1F9E-64F1-0E03-4814-6E739DCA68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D77DF8-4AFC-D809-E20A-1374F62D82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867AD71-5394-60BB-FD6A-19354A875C71}"/>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6" name="Footer Placeholder 5">
            <a:extLst>
              <a:ext uri="{FF2B5EF4-FFF2-40B4-BE49-F238E27FC236}">
                <a16:creationId xmlns:a16="http://schemas.microsoft.com/office/drawing/2014/main" id="{425C2005-FCBE-CDAC-5673-71E2D8F0F24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3ED6BC-9486-8386-5164-90D95CC3698A}"/>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364265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745C-2C40-B5EE-4708-B2E17E82DFB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B6FB15E-6D7E-B5C1-58D6-7ED108E9932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F305D6-AF1A-BA51-620B-ABF1B8AF6236}"/>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5" name="Footer Placeholder 4">
            <a:extLst>
              <a:ext uri="{FF2B5EF4-FFF2-40B4-BE49-F238E27FC236}">
                <a16:creationId xmlns:a16="http://schemas.microsoft.com/office/drawing/2014/main" id="{7126DF74-966E-9A06-C978-A6A8AC1664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2840F-C185-C1AB-896F-9D1CF19C25EE}"/>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192488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17F2D2-82B7-98CA-9570-238E9795E0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9463B7F-FF82-93A8-0C9B-E7349101F49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5A7D26D-9672-4248-3E7B-5870FBDA86DC}"/>
              </a:ext>
            </a:extLst>
          </p:cNvPr>
          <p:cNvSpPr>
            <a:spLocks noGrp="1"/>
          </p:cNvSpPr>
          <p:nvPr>
            <p:ph type="dt" sz="half" idx="10"/>
          </p:nvPr>
        </p:nvSpPr>
        <p:spPr/>
        <p:txBody>
          <a:bodyPr/>
          <a:lstStyle/>
          <a:p>
            <a:fld id="{24BC8F86-9677-4E41-9F05-679B6301826F}" type="datetimeFigureOut">
              <a:rPr lang="en-US" smtClean="0"/>
              <a:t>9/7/26</a:t>
            </a:fld>
            <a:endParaRPr lang="en-US"/>
          </a:p>
        </p:txBody>
      </p:sp>
      <p:sp>
        <p:nvSpPr>
          <p:cNvPr id="5" name="Footer Placeholder 4">
            <a:extLst>
              <a:ext uri="{FF2B5EF4-FFF2-40B4-BE49-F238E27FC236}">
                <a16:creationId xmlns:a16="http://schemas.microsoft.com/office/drawing/2014/main" id="{D85BB0A1-7469-9588-970A-83F12C20F0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55F3A-4683-4AF0-748F-09F4BE91E36E}"/>
              </a:ext>
            </a:extLst>
          </p:cNvPr>
          <p:cNvSpPr>
            <a:spLocks noGrp="1"/>
          </p:cNvSpPr>
          <p:nvPr>
            <p:ph type="sldNum" sz="quarter" idx="12"/>
          </p:nvPr>
        </p:nvSpPr>
        <p:spPr/>
        <p:txBody>
          <a:bodyPr/>
          <a:lstStyle/>
          <a:p>
            <a:fld id="{0E36CA8B-DB48-064B-B60A-2F1C1C1FA623}" type="slidenum">
              <a:rPr lang="en-US" smtClean="0"/>
              <a:t>‹#›</a:t>
            </a:fld>
            <a:endParaRPr lang="en-US"/>
          </a:p>
        </p:txBody>
      </p:sp>
    </p:spTree>
    <p:extLst>
      <p:ext uri="{BB962C8B-B14F-4D97-AF65-F5344CB8AC3E}">
        <p14:creationId xmlns:p14="http://schemas.microsoft.com/office/powerpoint/2010/main" val="1757506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4501FF-7C91-1F81-07A7-2CA1A93927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AB9CD13-B1CF-8E99-2635-0B13A765E7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F362FBD-D4D7-99C1-214D-4FE068F219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BC8F86-9677-4E41-9F05-679B6301826F}" type="datetimeFigureOut">
              <a:rPr lang="en-US" smtClean="0"/>
              <a:t>9/7/26</a:t>
            </a:fld>
            <a:endParaRPr lang="en-US"/>
          </a:p>
        </p:txBody>
      </p:sp>
      <p:sp>
        <p:nvSpPr>
          <p:cNvPr id="5" name="Footer Placeholder 4">
            <a:extLst>
              <a:ext uri="{FF2B5EF4-FFF2-40B4-BE49-F238E27FC236}">
                <a16:creationId xmlns:a16="http://schemas.microsoft.com/office/drawing/2014/main" id="{EE91C8E9-15CD-8256-B339-0620AE0882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6DDF99-0C35-55B0-FC75-3ED0964B72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36CA8B-DB48-064B-B60A-2F1C1C1FA623}" type="slidenum">
              <a:rPr lang="en-US" smtClean="0"/>
              <a:t>‹#›</a:t>
            </a:fld>
            <a:endParaRPr lang="en-US"/>
          </a:p>
        </p:txBody>
      </p:sp>
    </p:spTree>
    <p:extLst>
      <p:ext uri="{BB962C8B-B14F-4D97-AF65-F5344CB8AC3E}">
        <p14:creationId xmlns:p14="http://schemas.microsoft.com/office/powerpoint/2010/main" val="40306151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0CC8B24-0C89-5F69-3624-504E3BC1B101}"/>
              </a:ext>
            </a:extLst>
          </p:cNvPr>
          <p:cNvSpPr>
            <a:spLocks noGrp="1"/>
          </p:cNvSpPr>
          <p:nvPr>
            <p:ph type="ctrTitle"/>
          </p:nvPr>
        </p:nvSpPr>
        <p:spPr>
          <a:xfrm>
            <a:off x="1314824" y="735106"/>
            <a:ext cx="10053763" cy="2928470"/>
          </a:xfrm>
        </p:spPr>
        <p:txBody>
          <a:bodyPr anchor="b">
            <a:normAutofit/>
          </a:bodyPr>
          <a:lstStyle/>
          <a:p>
            <a:pPr algn="l"/>
            <a:r>
              <a:rPr lang="en-US" sz="4800" b="1">
                <a:solidFill>
                  <a:srgbClr val="FFFFFF"/>
                </a:solidFill>
              </a:rPr>
              <a:t>External shocks and police legitimacy</a:t>
            </a:r>
            <a:r>
              <a:rPr lang="en-GB" sz="4800">
                <a:solidFill>
                  <a:srgbClr val="FFFFFF"/>
                </a:solidFill>
                <a:effectLst/>
              </a:rPr>
              <a:t> </a:t>
            </a:r>
            <a:endParaRPr lang="en-US" sz="4800">
              <a:solidFill>
                <a:srgbClr val="FFFFFF"/>
              </a:solidFill>
            </a:endParaRPr>
          </a:p>
        </p:txBody>
      </p:sp>
      <p:sp>
        <p:nvSpPr>
          <p:cNvPr id="3" name="Subtitle 2">
            <a:extLst>
              <a:ext uri="{FF2B5EF4-FFF2-40B4-BE49-F238E27FC236}">
                <a16:creationId xmlns:a16="http://schemas.microsoft.com/office/drawing/2014/main" id="{E9FF6B47-3E38-72A7-9CA1-392964631C8F}"/>
              </a:ext>
            </a:extLst>
          </p:cNvPr>
          <p:cNvSpPr>
            <a:spLocks noGrp="1"/>
          </p:cNvSpPr>
          <p:nvPr>
            <p:ph type="subTitle" idx="1"/>
          </p:nvPr>
        </p:nvSpPr>
        <p:spPr>
          <a:xfrm>
            <a:off x="1350682" y="4870824"/>
            <a:ext cx="10005951" cy="1458258"/>
          </a:xfrm>
        </p:spPr>
        <p:txBody>
          <a:bodyPr anchor="ctr">
            <a:normAutofit/>
          </a:bodyPr>
          <a:lstStyle/>
          <a:p>
            <a:pPr algn="l"/>
            <a:r>
              <a:rPr lang="en-US"/>
              <a:t>Felix M. Enterkin</a:t>
            </a:r>
          </a:p>
        </p:txBody>
      </p:sp>
    </p:spTree>
    <p:extLst>
      <p:ext uri="{BB962C8B-B14F-4D97-AF65-F5344CB8AC3E}">
        <p14:creationId xmlns:p14="http://schemas.microsoft.com/office/powerpoint/2010/main" val="2739038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Rectangle 3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CBF0E7-0129-C39E-C4A3-082DFF694865}"/>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Background </a:t>
            </a:r>
          </a:p>
        </p:txBody>
      </p:sp>
      <p:sp>
        <p:nvSpPr>
          <p:cNvPr id="41" name="Rectangle 4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9CC3D40-7C3B-64A3-D62F-AF2D7C819C0D}"/>
              </a:ext>
            </a:extLst>
          </p:cNvPr>
          <p:cNvSpPr>
            <a:spLocks noGrp="1"/>
          </p:cNvSpPr>
          <p:nvPr>
            <p:ph idx="1"/>
          </p:nvPr>
        </p:nvSpPr>
        <p:spPr>
          <a:xfrm>
            <a:off x="1155548" y="2217343"/>
            <a:ext cx="9880893" cy="3959619"/>
          </a:xfrm>
        </p:spPr>
        <p:txBody>
          <a:bodyPr>
            <a:normAutofit lnSpcReduction="10000"/>
          </a:bodyPr>
          <a:lstStyle/>
          <a:p>
            <a:r>
              <a:rPr lang="en-US" sz="2400" dirty="0"/>
              <a:t>Police legitimacy is often viewed as a matter of procedural justice (Tyler 1990), but less is known about the influence of external factors.</a:t>
            </a:r>
          </a:p>
          <a:p>
            <a:r>
              <a:rPr lang="en-US" sz="2400" dirty="0"/>
              <a:t>Multiple factors may influence how people view and identify with police authority. </a:t>
            </a:r>
          </a:p>
          <a:p>
            <a:r>
              <a:rPr lang="en-US" sz="2400" dirty="0"/>
              <a:t>There is some evidence to suggest crisis point, such as public health emergencies (Silbey 2021) or terrorist attacks (LaFree and Adamczyk 2017), are associated with changes in public perceptions of police authority. </a:t>
            </a:r>
          </a:p>
          <a:p>
            <a:pPr marL="0" indent="0">
              <a:buNone/>
            </a:pPr>
            <a:endParaRPr lang="en-US" sz="2400" dirty="0"/>
          </a:p>
          <a:p>
            <a:pPr marL="0" indent="0">
              <a:buNone/>
            </a:pPr>
            <a:r>
              <a:rPr lang="en-US" sz="2400" dirty="0"/>
              <a:t>I ask whether a terrorist attack has a </a:t>
            </a:r>
            <a:r>
              <a:rPr lang="en-US" sz="2400" i="1" dirty="0"/>
              <a:t>causal i</a:t>
            </a:r>
            <a:r>
              <a:rPr lang="en-US" sz="2400" dirty="0"/>
              <a:t>mpact on perceptions of police legitimacy.</a:t>
            </a:r>
          </a:p>
        </p:txBody>
      </p:sp>
    </p:spTree>
    <p:extLst>
      <p:ext uri="{BB962C8B-B14F-4D97-AF65-F5344CB8AC3E}">
        <p14:creationId xmlns:p14="http://schemas.microsoft.com/office/powerpoint/2010/main" val="798751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6B3CB-CD6D-09FD-A34B-953D561B7675}"/>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Theory: The Rally-Round-the-Flag Effect</a:t>
            </a:r>
          </a:p>
        </p:txBody>
      </p:sp>
      <p:sp>
        <p:nvSpPr>
          <p:cNvPr id="3" name="Content Placeholder 2">
            <a:extLst>
              <a:ext uri="{FF2B5EF4-FFF2-40B4-BE49-F238E27FC236}">
                <a16:creationId xmlns:a16="http://schemas.microsoft.com/office/drawing/2014/main" id="{6D45F75C-A4F1-8CA0-16B9-1EF797D2ABEE}"/>
              </a:ext>
            </a:extLst>
          </p:cNvPr>
          <p:cNvSpPr>
            <a:spLocks noGrp="1"/>
          </p:cNvSpPr>
          <p:nvPr>
            <p:ph idx="1"/>
          </p:nvPr>
        </p:nvSpPr>
        <p:spPr>
          <a:xfrm>
            <a:off x="1371599" y="2318197"/>
            <a:ext cx="9724031" cy="3683358"/>
          </a:xfrm>
        </p:spPr>
        <p:txBody>
          <a:bodyPr anchor="ctr">
            <a:normAutofit/>
          </a:bodyPr>
          <a:lstStyle/>
          <a:p>
            <a:pPr marL="0" indent="0">
              <a:buNone/>
            </a:pPr>
            <a:r>
              <a:rPr lang="en-US" sz="2000" dirty="0"/>
              <a:t>Exogenous shocks, such as terrorist attacks, often generate a rally effect :</a:t>
            </a:r>
          </a:p>
          <a:p>
            <a:pPr lvl="1"/>
            <a:r>
              <a:rPr lang="en-US" sz="2000" dirty="0"/>
              <a:t>Increased support for the nation and institutions, increased outgroup hostility, and conservative shift  (Godefroidt 2023).</a:t>
            </a:r>
          </a:p>
          <a:p>
            <a:pPr marL="0" indent="0">
              <a:buNone/>
            </a:pPr>
            <a:r>
              <a:rPr lang="en-US" sz="2000" dirty="0"/>
              <a:t>This is consistent with in-group/out-group theories that suggest an external threat will drive social cohesion </a:t>
            </a:r>
          </a:p>
          <a:p>
            <a:pPr marL="0" indent="0">
              <a:buNone/>
            </a:pPr>
            <a:endParaRPr lang="en-US" sz="2000" dirty="0"/>
          </a:p>
          <a:p>
            <a:pPr marL="0" indent="0">
              <a:buNone/>
            </a:pPr>
            <a:r>
              <a:rPr lang="en-US" sz="2000" dirty="0"/>
              <a:t>This observed rally effect is driven by an ingroup/outgroup identification response</a:t>
            </a:r>
          </a:p>
          <a:p>
            <a:pPr lvl="1"/>
            <a:r>
              <a:rPr lang="en-US" sz="2000" dirty="0"/>
              <a:t>Threats create a salient distinction between the threat and the political community under attack </a:t>
            </a:r>
          </a:p>
          <a:p>
            <a:pPr lvl="1"/>
            <a:r>
              <a:rPr lang="en-US" sz="2000" dirty="0"/>
              <a:t>The police may be perceived as part of the collective under attack and benefit from an increase in support </a:t>
            </a:r>
          </a:p>
          <a:p>
            <a:pPr marL="0" indent="0">
              <a:buNone/>
            </a:pPr>
            <a:endParaRPr lang="en-US" sz="2000" dirty="0"/>
          </a:p>
          <a:p>
            <a:pPr lvl="1"/>
            <a:endParaRPr lang="en-US" sz="2000" dirty="0"/>
          </a:p>
          <a:p>
            <a:pPr marL="0" indent="0">
              <a:buNone/>
            </a:pPr>
            <a:endParaRPr lang="en-US" sz="2000" dirty="0"/>
          </a:p>
        </p:txBody>
      </p:sp>
    </p:spTree>
    <p:extLst>
      <p:ext uri="{BB962C8B-B14F-4D97-AF65-F5344CB8AC3E}">
        <p14:creationId xmlns:p14="http://schemas.microsoft.com/office/powerpoint/2010/main" val="311808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0A1D95-4F26-3B43-E693-A0188E52EC05}"/>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Hypothesis </a:t>
            </a:r>
          </a:p>
        </p:txBody>
      </p:sp>
      <p:sp>
        <p:nvSpPr>
          <p:cNvPr id="32" name="Rectangle 31">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F438C70-3BDB-D7DD-CBD8-9143A9008AE8}"/>
              </a:ext>
            </a:extLst>
          </p:cNvPr>
          <p:cNvSpPr>
            <a:spLocks noGrp="1"/>
          </p:cNvSpPr>
          <p:nvPr>
            <p:ph idx="1"/>
          </p:nvPr>
        </p:nvSpPr>
        <p:spPr>
          <a:xfrm>
            <a:off x="1155548" y="2217343"/>
            <a:ext cx="9880893" cy="3959619"/>
          </a:xfrm>
        </p:spPr>
        <p:txBody>
          <a:bodyPr>
            <a:normAutofit/>
          </a:bodyPr>
          <a:lstStyle/>
          <a:p>
            <a:endParaRPr lang="en-US" sz="2400" dirty="0"/>
          </a:p>
          <a:p>
            <a:r>
              <a:rPr lang="en-US" sz="2400" dirty="0"/>
              <a:t>H1: Exposure to a Terrorist Attack will increase perceptions of police legitimacy </a:t>
            </a:r>
          </a:p>
          <a:p>
            <a:r>
              <a:rPr lang="en-US" sz="2400" dirty="0"/>
              <a:t>H2: This effect will diminish with time and return to pre-event levels</a:t>
            </a:r>
          </a:p>
        </p:txBody>
      </p:sp>
    </p:spTree>
    <p:extLst>
      <p:ext uri="{BB962C8B-B14F-4D97-AF65-F5344CB8AC3E}">
        <p14:creationId xmlns:p14="http://schemas.microsoft.com/office/powerpoint/2010/main" val="2232462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B69064-AEEF-4658-6C17-9080F5DA3B7B}"/>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Quasi-Experimental Design	</a:t>
            </a:r>
          </a:p>
        </p:txBody>
      </p:sp>
      <p:sp>
        <p:nvSpPr>
          <p:cNvPr id="3" name="Content Placeholder 2">
            <a:extLst>
              <a:ext uri="{FF2B5EF4-FFF2-40B4-BE49-F238E27FC236}">
                <a16:creationId xmlns:a16="http://schemas.microsoft.com/office/drawing/2014/main" id="{BE2D0CA0-378F-19E0-5DAE-38416FF2E6C3}"/>
              </a:ext>
            </a:extLst>
          </p:cNvPr>
          <p:cNvSpPr>
            <a:spLocks noGrp="1"/>
          </p:cNvSpPr>
          <p:nvPr>
            <p:ph idx="1"/>
          </p:nvPr>
        </p:nvSpPr>
        <p:spPr>
          <a:xfrm>
            <a:off x="1371599" y="1590741"/>
            <a:ext cx="9724031" cy="4410814"/>
          </a:xfrm>
        </p:spPr>
        <p:txBody>
          <a:bodyPr anchor="ctr">
            <a:normAutofit/>
          </a:bodyPr>
          <a:lstStyle/>
          <a:p>
            <a:pPr marL="0" indent="0">
              <a:buNone/>
            </a:pPr>
            <a:r>
              <a:rPr lang="en-US" sz="1700" dirty="0"/>
              <a:t>I leverage an unexpected event during survey design (Munoz et al 2020)</a:t>
            </a:r>
          </a:p>
          <a:p>
            <a:pPr lvl="1"/>
            <a:r>
              <a:rPr lang="en-US" sz="1700" dirty="0"/>
              <a:t>Exploit overlap with a terrorist attack and survey fieldwork (European Social Survey, Round 5)</a:t>
            </a:r>
          </a:p>
          <a:p>
            <a:pPr lvl="1"/>
            <a:r>
              <a:rPr lang="en-US" sz="1700" dirty="0"/>
              <a:t>Respondents immediately before and after the event survey are used as control and treatment groups</a:t>
            </a:r>
          </a:p>
          <a:p>
            <a:pPr lvl="1"/>
            <a:r>
              <a:rPr lang="en-US" sz="1700" dirty="0"/>
              <a:t>Those surveyed after the event are assumed to be ‘exposed’ to terrorism</a:t>
            </a:r>
          </a:p>
          <a:p>
            <a:pPr marL="457200" lvl="1" indent="0">
              <a:buNone/>
            </a:pPr>
            <a:endParaRPr lang="en-US" sz="1700" dirty="0"/>
          </a:p>
          <a:p>
            <a:pPr marL="0" indent="0">
              <a:buNone/>
            </a:pPr>
            <a:r>
              <a:rPr lang="en-US" sz="1700" dirty="0"/>
              <a:t>Two Case Studies:</a:t>
            </a:r>
          </a:p>
          <a:p>
            <a:r>
              <a:rPr lang="en-US" sz="1700" dirty="0"/>
              <a:t>Stockholm Bombing 2010, Sweden</a:t>
            </a:r>
          </a:p>
          <a:p>
            <a:r>
              <a:rPr lang="en-US" sz="1700" dirty="0"/>
              <a:t>Domodedovo Airport Bombing 2011, Russia</a:t>
            </a:r>
          </a:p>
        </p:txBody>
      </p:sp>
    </p:spTree>
    <p:extLst>
      <p:ext uri="{BB962C8B-B14F-4D97-AF65-F5344CB8AC3E}">
        <p14:creationId xmlns:p14="http://schemas.microsoft.com/office/powerpoint/2010/main" val="3499393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2EFFD76-67FF-8DBD-1612-25D9BB54CCE2}"/>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Six-Legitimacy-Related Attitudes </a:t>
            </a:r>
          </a:p>
        </p:txBody>
      </p:sp>
      <p:sp>
        <p:nvSpPr>
          <p:cNvPr id="3" name="Content Placeholder 2">
            <a:extLst>
              <a:ext uri="{FF2B5EF4-FFF2-40B4-BE49-F238E27FC236}">
                <a16:creationId xmlns:a16="http://schemas.microsoft.com/office/drawing/2014/main" id="{54D12DE9-7944-243A-883C-65888B4CB277}"/>
              </a:ext>
            </a:extLst>
          </p:cNvPr>
          <p:cNvSpPr>
            <a:spLocks noGrp="1"/>
          </p:cNvSpPr>
          <p:nvPr>
            <p:ph idx="1"/>
          </p:nvPr>
        </p:nvSpPr>
        <p:spPr>
          <a:xfrm>
            <a:off x="1371599" y="1891970"/>
            <a:ext cx="9724031" cy="4109585"/>
          </a:xfrm>
        </p:spPr>
        <p:txBody>
          <a:bodyPr anchor="ctr">
            <a:normAutofit/>
          </a:bodyPr>
          <a:lstStyle/>
          <a:p>
            <a:pPr marL="0" indent="0">
              <a:buNone/>
            </a:pPr>
            <a:r>
              <a:rPr lang="en-US" sz="2000" dirty="0"/>
              <a:t>Round 5 of the ESS includes a Trust in Justice model </a:t>
            </a:r>
          </a:p>
          <a:p>
            <a:pPr marL="0" indent="0">
              <a:buNone/>
            </a:pPr>
            <a:r>
              <a:rPr lang="en-US" sz="2000" dirty="0"/>
              <a:t>Legitimacy is broken down into multiple separate components </a:t>
            </a:r>
          </a:p>
          <a:p>
            <a:r>
              <a:rPr lang="en-US" sz="2000" dirty="0"/>
              <a:t>Trust in the police </a:t>
            </a:r>
          </a:p>
          <a:p>
            <a:r>
              <a:rPr lang="en-US" sz="2000" dirty="0"/>
              <a:t>Obligation to obey the police</a:t>
            </a:r>
          </a:p>
          <a:p>
            <a:r>
              <a:rPr lang="en-US" sz="2000" dirty="0"/>
              <a:t>Moral alignment with police </a:t>
            </a:r>
          </a:p>
          <a:p>
            <a:r>
              <a:rPr lang="en-US" sz="2000" dirty="0"/>
              <a:t>Perception of police as lawful</a:t>
            </a:r>
          </a:p>
          <a:p>
            <a:r>
              <a:rPr lang="en-US" sz="2000" dirty="0"/>
              <a:t>Perception of procedural fairness </a:t>
            </a:r>
          </a:p>
          <a:p>
            <a:r>
              <a:rPr lang="en-US" sz="2000" dirty="0"/>
              <a:t>Perceptions of police effectiveness</a:t>
            </a:r>
          </a:p>
        </p:txBody>
      </p:sp>
    </p:spTree>
    <p:extLst>
      <p:ext uri="{BB962C8B-B14F-4D97-AF65-F5344CB8AC3E}">
        <p14:creationId xmlns:p14="http://schemas.microsoft.com/office/powerpoint/2010/main" val="1195359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4694DE59-C6DA-D91A-0CEA-1D7E4AAF911D}"/>
              </a:ext>
            </a:extLst>
          </p:cNvPr>
          <p:cNvSpPr>
            <a:spLocks noGrp="1"/>
          </p:cNvSpPr>
          <p:nvPr>
            <p:ph type="title"/>
          </p:nvPr>
        </p:nvSpPr>
        <p:spPr>
          <a:xfrm>
            <a:off x="838200" y="1412488"/>
            <a:ext cx="2899189" cy="4363844"/>
          </a:xfrm>
        </p:spPr>
        <p:txBody>
          <a:bodyPr anchor="t">
            <a:normAutofit/>
          </a:bodyPr>
          <a:lstStyle/>
          <a:p>
            <a:r>
              <a:rPr lang="en-US" sz="4000">
                <a:solidFill>
                  <a:srgbClr val="FFFFFF"/>
                </a:solidFill>
              </a:rPr>
              <a:t>The Two Cases </a:t>
            </a:r>
          </a:p>
        </p:txBody>
      </p:sp>
      <p:sp>
        <p:nvSpPr>
          <p:cNvPr id="5" name="Content Placeholder 4">
            <a:extLst>
              <a:ext uri="{FF2B5EF4-FFF2-40B4-BE49-F238E27FC236}">
                <a16:creationId xmlns:a16="http://schemas.microsoft.com/office/drawing/2014/main" id="{D3A84347-F4AA-755F-8CC4-19762B59CC62}"/>
              </a:ext>
            </a:extLst>
          </p:cNvPr>
          <p:cNvSpPr>
            <a:spLocks noGrp="1"/>
          </p:cNvSpPr>
          <p:nvPr>
            <p:ph sz="half" idx="1"/>
          </p:nvPr>
        </p:nvSpPr>
        <p:spPr>
          <a:xfrm>
            <a:off x="4380855" y="1412489"/>
            <a:ext cx="3427283" cy="4363844"/>
          </a:xfrm>
        </p:spPr>
        <p:txBody>
          <a:bodyPr>
            <a:normAutofit/>
          </a:bodyPr>
          <a:lstStyle/>
          <a:p>
            <a:pPr marL="0" indent="0">
              <a:buNone/>
            </a:pPr>
            <a:r>
              <a:rPr lang="en-US" sz="2000" dirty="0"/>
              <a:t>Policing in Sweden </a:t>
            </a:r>
          </a:p>
          <a:p>
            <a:r>
              <a:rPr lang="en-US" sz="2000" dirty="0"/>
              <a:t>High levels of legitimacy </a:t>
            </a:r>
          </a:p>
          <a:p>
            <a:r>
              <a:rPr lang="en-US" sz="2000" dirty="0"/>
              <a:t>Characterized by a procedural justice model</a:t>
            </a:r>
          </a:p>
          <a:p>
            <a:pPr marL="0" indent="0">
              <a:buNone/>
            </a:pPr>
            <a:endParaRPr lang="en-US" sz="2000" dirty="0"/>
          </a:p>
          <a:p>
            <a:pPr marL="0" indent="0">
              <a:buNone/>
            </a:pPr>
            <a:endParaRPr lang="en-US" sz="2000" dirty="0"/>
          </a:p>
          <a:p>
            <a:pPr marL="0" indent="0">
              <a:buNone/>
            </a:pPr>
            <a:r>
              <a:rPr lang="en-US" sz="2000" dirty="0"/>
              <a:t>Event: Stockholm Bombing 2010</a:t>
            </a:r>
          </a:p>
          <a:p>
            <a:r>
              <a:rPr lang="en-US" sz="2000" dirty="0"/>
              <a:t>Small attack (botched)</a:t>
            </a:r>
          </a:p>
          <a:p>
            <a:r>
              <a:rPr lang="en-US" sz="2000" dirty="0"/>
              <a:t>2 injured, attacker killed </a:t>
            </a:r>
          </a:p>
        </p:txBody>
      </p:sp>
      <p:cxnSp>
        <p:nvCxnSpPr>
          <p:cNvPr id="13" name="Straight Connector 12">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Content Placeholder 5">
            <a:extLst>
              <a:ext uri="{FF2B5EF4-FFF2-40B4-BE49-F238E27FC236}">
                <a16:creationId xmlns:a16="http://schemas.microsoft.com/office/drawing/2014/main" id="{8875AE3A-5890-90D3-E7D4-A309913029A1}"/>
              </a:ext>
            </a:extLst>
          </p:cNvPr>
          <p:cNvSpPr>
            <a:spLocks noGrp="1"/>
          </p:cNvSpPr>
          <p:nvPr>
            <p:ph sz="half" idx="2"/>
          </p:nvPr>
        </p:nvSpPr>
        <p:spPr>
          <a:xfrm>
            <a:off x="8451604" y="1412489"/>
            <a:ext cx="3197701" cy="4363844"/>
          </a:xfrm>
        </p:spPr>
        <p:txBody>
          <a:bodyPr>
            <a:normAutofit/>
          </a:bodyPr>
          <a:lstStyle/>
          <a:p>
            <a:pPr marL="0" indent="0">
              <a:buNone/>
            </a:pPr>
            <a:r>
              <a:rPr lang="en-US" sz="2000" dirty="0"/>
              <a:t>Policing in Russia </a:t>
            </a:r>
          </a:p>
          <a:p>
            <a:r>
              <a:rPr lang="en-US" sz="2000" dirty="0"/>
              <a:t>Low levels of legitimacy </a:t>
            </a:r>
          </a:p>
          <a:p>
            <a:r>
              <a:rPr lang="en-US" sz="2000" dirty="0"/>
              <a:t>Characterized by bribery and corruption</a:t>
            </a:r>
          </a:p>
          <a:p>
            <a:pPr marL="0" indent="0">
              <a:buNone/>
            </a:pPr>
            <a:endParaRPr lang="en-US" sz="2000" dirty="0"/>
          </a:p>
          <a:p>
            <a:pPr marL="0" indent="0">
              <a:buNone/>
            </a:pPr>
            <a:endParaRPr lang="en-US" sz="2000" dirty="0"/>
          </a:p>
          <a:p>
            <a:pPr marL="0" indent="0">
              <a:buNone/>
            </a:pPr>
            <a:r>
              <a:rPr lang="en-US" sz="2000" dirty="0"/>
              <a:t>Event: Domodedovo Airport Bombing 2011</a:t>
            </a:r>
          </a:p>
          <a:p>
            <a:r>
              <a:rPr lang="en-US" sz="2000" dirty="0"/>
              <a:t>Large attack </a:t>
            </a:r>
          </a:p>
          <a:p>
            <a:r>
              <a:rPr lang="en-US" sz="2000" dirty="0"/>
              <a:t>37 killed, 150+ injured</a:t>
            </a:r>
          </a:p>
        </p:txBody>
      </p:sp>
    </p:spTree>
    <p:extLst>
      <p:ext uri="{BB962C8B-B14F-4D97-AF65-F5344CB8AC3E}">
        <p14:creationId xmlns:p14="http://schemas.microsoft.com/office/powerpoint/2010/main" val="165857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D7006-2B56-CACB-0417-D0766FE8F454}"/>
              </a:ext>
            </a:extLst>
          </p:cNvPr>
          <p:cNvSpPr>
            <a:spLocks noGrp="1"/>
          </p:cNvSpPr>
          <p:nvPr>
            <p:ph type="title"/>
          </p:nvPr>
        </p:nvSpPr>
        <p:spPr/>
        <p:txBody>
          <a:bodyPr/>
          <a:lstStyle/>
          <a:p>
            <a:r>
              <a:rPr lang="en-US" dirty="0"/>
              <a:t>Internation-to-treat effects </a:t>
            </a:r>
          </a:p>
        </p:txBody>
      </p:sp>
      <p:sp>
        <p:nvSpPr>
          <p:cNvPr id="3" name="Content Placeholder 2">
            <a:extLst>
              <a:ext uri="{FF2B5EF4-FFF2-40B4-BE49-F238E27FC236}">
                <a16:creationId xmlns:a16="http://schemas.microsoft.com/office/drawing/2014/main" id="{B62580F8-4D78-6501-5CA3-127DF1EA7A23}"/>
              </a:ext>
            </a:extLst>
          </p:cNvPr>
          <p:cNvSpPr>
            <a:spLocks noGrp="1"/>
          </p:cNvSpPr>
          <p:nvPr>
            <p:ph idx="1"/>
          </p:nvPr>
        </p:nvSpPr>
        <p:spPr/>
        <p:txBody>
          <a:bodyPr/>
          <a:lstStyle/>
          <a:p>
            <a:r>
              <a:rPr lang="en-US" dirty="0"/>
              <a:t>Estimates are calculated using a local randomization approach to regression discontinuity </a:t>
            </a:r>
          </a:p>
          <a:p>
            <a:r>
              <a:rPr lang="en-US" dirty="0"/>
              <a:t>Difference in mean in treatment vs control in a small window either side of the event</a:t>
            </a:r>
          </a:p>
          <a:p>
            <a:r>
              <a:rPr lang="en-US" dirty="0"/>
              <a:t>Bandwidths are run from 1 to 8 weeks to assess the duration of effect</a:t>
            </a:r>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127186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49A83-E44B-5DC9-EBFA-9DD8B997EFBB}"/>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Case Study 1 – Sweden </a:t>
            </a:r>
          </a:p>
        </p:txBody>
      </p:sp>
      <p:pic>
        <p:nvPicPr>
          <p:cNvPr id="5" name="Content Placeholder 4">
            <a:extLst>
              <a:ext uri="{FF2B5EF4-FFF2-40B4-BE49-F238E27FC236}">
                <a16:creationId xmlns:a16="http://schemas.microsoft.com/office/drawing/2014/main" id="{CC883BC3-AAC1-3AAE-F841-22566233D108}"/>
              </a:ext>
            </a:extLst>
          </p:cNvPr>
          <p:cNvPicPr>
            <a:picLocks noGrp="1" noChangeAspect="1"/>
          </p:cNvPicPr>
          <p:nvPr>
            <p:ph idx="1"/>
          </p:nvPr>
        </p:nvPicPr>
        <p:blipFill>
          <a:blip r:embed="rId2"/>
          <a:stretch>
            <a:fillRect/>
          </a:stretch>
        </p:blipFill>
        <p:spPr>
          <a:xfrm>
            <a:off x="2979546" y="364587"/>
            <a:ext cx="6636402" cy="4678663"/>
          </a:xfrm>
          <a:prstGeom prst="rect">
            <a:avLst/>
          </a:prstGeom>
        </p:spPr>
      </p:pic>
    </p:spTree>
    <p:extLst>
      <p:ext uri="{BB962C8B-B14F-4D97-AF65-F5344CB8AC3E}">
        <p14:creationId xmlns:p14="http://schemas.microsoft.com/office/powerpoint/2010/main" val="1799912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730CBB-61C0-40FC-DDA3-DD8EFDAF2EBB}"/>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Case Study 2: Russia</a:t>
            </a:r>
          </a:p>
        </p:txBody>
      </p:sp>
      <p:pic>
        <p:nvPicPr>
          <p:cNvPr id="4" name="Content Placeholder 3">
            <a:extLst>
              <a:ext uri="{FF2B5EF4-FFF2-40B4-BE49-F238E27FC236}">
                <a16:creationId xmlns:a16="http://schemas.microsoft.com/office/drawing/2014/main" id="{A79FE80A-985F-7177-FCBD-973086431B88}"/>
              </a:ext>
            </a:extLst>
          </p:cNvPr>
          <p:cNvPicPr>
            <a:picLocks noGrp="1" noChangeAspect="1"/>
          </p:cNvPicPr>
          <p:nvPr>
            <p:ph idx="1"/>
          </p:nvPr>
        </p:nvPicPr>
        <p:blipFill>
          <a:blip r:embed="rId2"/>
          <a:stretch>
            <a:fillRect/>
          </a:stretch>
        </p:blipFill>
        <p:spPr>
          <a:xfrm>
            <a:off x="3205079" y="364587"/>
            <a:ext cx="6351876" cy="4827425"/>
          </a:xfrm>
          <a:prstGeom prst="rect">
            <a:avLst/>
          </a:prstGeom>
        </p:spPr>
      </p:pic>
    </p:spTree>
    <p:extLst>
      <p:ext uri="{BB962C8B-B14F-4D97-AF65-F5344CB8AC3E}">
        <p14:creationId xmlns:p14="http://schemas.microsoft.com/office/powerpoint/2010/main" val="3537181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B8299-6D83-6F7D-3D1E-029903033B0A}"/>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Summary of Findings </a:t>
            </a:r>
          </a:p>
        </p:txBody>
      </p:sp>
      <p:sp>
        <p:nvSpPr>
          <p:cNvPr id="3" name="Content Placeholder 2">
            <a:extLst>
              <a:ext uri="{FF2B5EF4-FFF2-40B4-BE49-F238E27FC236}">
                <a16:creationId xmlns:a16="http://schemas.microsoft.com/office/drawing/2014/main" id="{99FFE0A1-7A5F-0CB0-B3CB-2A40F9A6F165}"/>
              </a:ext>
            </a:extLst>
          </p:cNvPr>
          <p:cNvSpPr>
            <a:spLocks noGrp="1"/>
          </p:cNvSpPr>
          <p:nvPr>
            <p:ph idx="1"/>
          </p:nvPr>
        </p:nvSpPr>
        <p:spPr>
          <a:xfrm>
            <a:off x="1371599" y="2318197"/>
            <a:ext cx="9724031" cy="3683358"/>
          </a:xfrm>
        </p:spPr>
        <p:txBody>
          <a:bodyPr anchor="ctr">
            <a:normAutofit/>
          </a:bodyPr>
          <a:lstStyle/>
          <a:p>
            <a:r>
              <a:rPr lang="en-US" sz="2000" dirty="0"/>
              <a:t>In Sweden all attitudes shift significantly upwards in response to a threat</a:t>
            </a:r>
          </a:p>
          <a:p>
            <a:r>
              <a:rPr lang="en-US" sz="2000" dirty="0"/>
              <a:t>In Russia Attitudes are unchanged if not in decline</a:t>
            </a:r>
          </a:p>
          <a:p>
            <a:r>
              <a:rPr lang="en-US" sz="2000" dirty="0"/>
              <a:t>Robustness test suggest the three variables that shift were declining in Russia before the attacks</a:t>
            </a:r>
          </a:p>
          <a:p>
            <a:pPr marL="0" indent="0">
              <a:buNone/>
            </a:pPr>
            <a:endParaRPr lang="en-US" sz="2000" dirty="0"/>
          </a:p>
          <a:p>
            <a:pPr marL="0" indent="0">
              <a:buNone/>
            </a:pPr>
            <a:r>
              <a:rPr lang="en-US" sz="2000" dirty="0"/>
              <a:t>Possible explanations:</a:t>
            </a:r>
          </a:p>
          <a:p>
            <a:r>
              <a:rPr lang="en-US" sz="2000" dirty="0"/>
              <a:t>The difference does not appear to be about scale </a:t>
            </a:r>
          </a:p>
          <a:p>
            <a:r>
              <a:rPr lang="en-US" sz="2000" dirty="0"/>
              <a:t>In Russia perceptions of and identification with the police are low, they may not be viewed as part of the community </a:t>
            </a:r>
          </a:p>
        </p:txBody>
      </p:sp>
    </p:spTree>
    <p:extLst>
      <p:ext uri="{BB962C8B-B14F-4D97-AF65-F5344CB8AC3E}">
        <p14:creationId xmlns:p14="http://schemas.microsoft.com/office/powerpoint/2010/main" val="29322009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3314F0-DC70-A3FC-5F3D-453380683413}"/>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Implication </a:t>
            </a:r>
          </a:p>
        </p:txBody>
      </p:sp>
      <p:sp>
        <p:nvSpPr>
          <p:cNvPr id="25" name="Rectangle 24">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8585E22-C435-677E-CCDF-D8CA0C14BFE7}"/>
              </a:ext>
            </a:extLst>
          </p:cNvPr>
          <p:cNvSpPr>
            <a:spLocks noGrp="1"/>
          </p:cNvSpPr>
          <p:nvPr>
            <p:ph idx="1"/>
          </p:nvPr>
        </p:nvSpPr>
        <p:spPr>
          <a:xfrm>
            <a:off x="1155548" y="2217343"/>
            <a:ext cx="9880893" cy="3959619"/>
          </a:xfrm>
        </p:spPr>
        <p:txBody>
          <a:bodyPr>
            <a:normAutofit/>
          </a:bodyPr>
          <a:lstStyle/>
          <a:p>
            <a:r>
              <a:rPr lang="en-US" sz="2400" dirty="0"/>
              <a:t>Legitimacy can shift at least temporarily in line with exogenous events and shocks (at least temporarily)</a:t>
            </a:r>
          </a:p>
          <a:p>
            <a:r>
              <a:rPr lang="en-US" sz="2400" dirty="0"/>
              <a:t>All legitimacy measures shift I relative unison suggesting not simply an instrumental increase in support but a change in orientation towards police authority </a:t>
            </a:r>
          </a:p>
          <a:p>
            <a:r>
              <a:rPr lang="en-US" sz="2400" dirty="0"/>
              <a:t>While a terrorist attack may be sufficient to shift perceptions of police other factors are clearly at play </a:t>
            </a:r>
          </a:p>
          <a:p>
            <a:pPr marL="0" indent="0">
              <a:buNone/>
            </a:pPr>
            <a:endParaRPr lang="en-US" sz="2400" dirty="0"/>
          </a:p>
        </p:txBody>
      </p:sp>
    </p:spTree>
    <p:extLst>
      <p:ext uri="{BB962C8B-B14F-4D97-AF65-F5344CB8AC3E}">
        <p14:creationId xmlns:p14="http://schemas.microsoft.com/office/powerpoint/2010/main" val="3049193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B79CA-1CB8-A133-67D7-E2B7AC1F9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19381C9-F679-F043-BF30-5B929A46ABDB}"/>
              </a:ext>
            </a:extLst>
          </p:cNvPr>
          <p:cNvSpPr>
            <a:spLocks noGrp="1"/>
          </p:cNvSpPr>
          <p:nvPr>
            <p:ph type="title"/>
          </p:nvPr>
        </p:nvSpPr>
        <p:spPr>
          <a:xfrm>
            <a:off x="614678" y="1543849"/>
            <a:ext cx="4145582" cy="4638825"/>
          </a:xfrm>
        </p:spPr>
        <p:txBody>
          <a:bodyPr anchor="t">
            <a:normAutofit/>
          </a:bodyPr>
          <a:lstStyle/>
          <a:p>
            <a:r>
              <a:rPr lang="en-US" dirty="0"/>
              <a:t>Thank you!</a:t>
            </a:r>
            <a:br>
              <a:rPr lang="en-US" dirty="0"/>
            </a:br>
            <a:br>
              <a:rPr lang="en-US" dirty="0"/>
            </a:br>
            <a:endParaRPr lang="en-US" dirty="0"/>
          </a:p>
        </p:txBody>
      </p:sp>
      <p:sp>
        <p:nvSpPr>
          <p:cNvPr id="3" name="Content Placeholder 2">
            <a:extLst>
              <a:ext uri="{FF2B5EF4-FFF2-40B4-BE49-F238E27FC236}">
                <a16:creationId xmlns:a16="http://schemas.microsoft.com/office/drawing/2014/main" id="{36BDD94C-AA87-1E44-AB6A-5EA413B6118B}"/>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995333" y="745067"/>
            <a:ext cx="6218145" cy="5616850"/>
          </a:xfrm>
        </p:spPr>
        <p:txBody>
          <a:bodyPr>
            <a:normAutofit/>
          </a:bodyPr>
          <a:lstStyle/>
          <a:p>
            <a:pPr marL="0" lvl="0" indent="0">
              <a:spcBef>
                <a:spcPts val="2500"/>
              </a:spcBef>
              <a:buFont typeface="Arial" panose="020B0604020202020204" pitchFamily="34" charset="0"/>
              <a:buNone/>
            </a:pPr>
            <a:r>
              <a:rPr lang="en-US" sz="1600" b="1" dirty="0"/>
              <a:t>References</a:t>
            </a:r>
          </a:p>
          <a:p>
            <a:pPr marL="0" lvl="0" indent="0">
              <a:spcBef>
                <a:spcPts val="2500"/>
              </a:spcBef>
              <a:buNone/>
            </a:pPr>
            <a:r>
              <a:rPr lang="en-GB" sz="1600" dirty="0"/>
              <a:t>Godefroidt, A., 2023. How terrorism does (and does not) affect citizens’ political attitudes: A meta‐analysis. </a:t>
            </a:r>
            <a:r>
              <a:rPr lang="en-GB" sz="1600" i="1" dirty="0"/>
              <a:t>American journal of political science</a:t>
            </a:r>
            <a:r>
              <a:rPr lang="en-GB" sz="1600" dirty="0"/>
              <a:t>, </a:t>
            </a:r>
            <a:r>
              <a:rPr lang="en-GB" sz="1600" i="1" dirty="0"/>
              <a:t>67</a:t>
            </a:r>
            <a:r>
              <a:rPr lang="en-GB" sz="1600" dirty="0"/>
              <a:t>(1), pp.22-38.</a:t>
            </a:r>
            <a:endParaRPr lang="en-US" sz="1600" b="1" dirty="0"/>
          </a:p>
          <a:p>
            <a:pPr marL="0" lvl="0" indent="0">
              <a:spcBef>
                <a:spcPts val="2500"/>
              </a:spcBef>
              <a:buNone/>
            </a:pPr>
            <a:r>
              <a:rPr lang="en-GB" sz="1600" dirty="0"/>
              <a:t>LaFree, G. and Adamczyk, A., 2017. The impact of the Boston marathon bombings on public willingness to cooperate with police. </a:t>
            </a:r>
            <a:r>
              <a:rPr lang="en-GB" sz="1600" i="1" dirty="0"/>
              <a:t>Justice quarterly</a:t>
            </a:r>
            <a:r>
              <a:rPr lang="en-GB" sz="1600" dirty="0"/>
              <a:t>, </a:t>
            </a:r>
            <a:r>
              <a:rPr lang="en-GB" sz="1600" i="1" dirty="0"/>
              <a:t>34</a:t>
            </a:r>
            <a:r>
              <a:rPr lang="en-GB" sz="1600" dirty="0"/>
              <a:t>(3), pp.459-490.</a:t>
            </a:r>
            <a:endParaRPr lang="en-US" sz="1600" dirty="0"/>
          </a:p>
          <a:p>
            <a:pPr marL="0" lvl="0" indent="0">
              <a:spcBef>
                <a:spcPts val="2500"/>
              </a:spcBef>
              <a:buNone/>
            </a:pPr>
            <a:r>
              <a:rPr lang="en-GB" sz="1600" dirty="0"/>
              <a:t>Muñoz, J., Falcó-Gimeno, A. and Hernández, E., 2020. Unexpected event during survey design: Promise and pitfalls for causal inference. </a:t>
            </a:r>
            <a:r>
              <a:rPr lang="en-GB" sz="1600" i="1" dirty="0"/>
              <a:t>Political analysis</a:t>
            </a:r>
            <a:r>
              <a:rPr lang="en-GB" sz="1600" dirty="0"/>
              <a:t>, </a:t>
            </a:r>
            <a:r>
              <a:rPr lang="en-GB" sz="1600" i="1" dirty="0"/>
              <a:t>28</a:t>
            </a:r>
            <a:r>
              <a:rPr lang="en-GB" sz="1600" dirty="0"/>
              <a:t>(2), pp.186-206.</a:t>
            </a:r>
          </a:p>
          <a:p>
            <a:pPr marL="0" lvl="0" indent="0">
              <a:spcBef>
                <a:spcPts val="2500"/>
              </a:spcBef>
              <a:buNone/>
            </a:pPr>
            <a:r>
              <a:rPr lang="en-GB" sz="1600" dirty="0"/>
              <a:t>Sibley, C. G., Greaves, L. M., </a:t>
            </a:r>
            <a:r>
              <a:rPr lang="en-GB" sz="1600" dirty="0" err="1"/>
              <a:t>Satherley</a:t>
            </a:r>
            <a:r>
              <a:rPr lang="en-GB" sz="1600" dirty="0"/>
              <a:t>, N., Wilson, M. S., Overall, N. C., Lee, C. H. J., </a:t>
            </a:r>
            <a:r>
              <a:rPr lang="en-GB" sz="1600" dirty="0" err="1"/>
              <a:t>Milojev</a:t>
            </a:r>
            <a:r>
              <a:rPr lang="en-GB" sz="1600" dirty="0"/>
              <a:t>, P., </a:t>
            </a:r>
            <a:r>
              <a:rPr lang="en-GB" sz="1600" dirty="0" err="1"/>
              <a:t>Bulbulia</a:t>
            </a:r>
            <a:r>
              <a:rPr lang="en-GB" sz="1600" dirty="0"/>
              <a:t>, J., Osborne, D., </a:t>
            </a:r>
            <a:r>
              <a:rPr lang="en-GB" sz="1600" dirty="0" err="1"/>
              <a:t>Milfont</a:t>
            </a:r>
            <a:r>
              <a:rPr lang="en-GB" sz="1600" dirty="0"/>
              <a:t>, T. L., </a:t>
            </a:r>
            <a:r>
              <a:rPr lang="en-GB" sz="1600" dirty="0" err="1"/>
              <a:t>Houkamau</a:t>
            </a:r>
            <a:r>
              <a:rPr lang="en-GB" sz="1600" dirty="0"/>
              <a:t>, C. A., Duck, I. M., Vickers-Jones, R., &amp; Barlow, F. K. (2020). Effects of the COVID-19 pandemic and nationwide lockdown on trust, attitudes toward government, and well-being. </a:t>
            </a:r>
            <a:r>
              <a:rPr lang="en-GB" sz="1600" i="1" dirty="0"/>
              <a:t>American Psychologist, 75</a:t>
            </a:r>
            <a:r>
              <a:rPr lang="en-GB" sz="1600" dirty="0"/>
              <a:t>(5), 618–630. </a:t>
            </a:r>
          </a:p>
          <a:p>
            <a:pPr marL="0" lvl="0" indent="0">
              <a:spcBef>
                <a:spcPts val="2500"/>
              </a:spcBef>
              <a:buNone/>
            </a:pPr>
            <a:r>
              <a:rPr lang="en-GB" sz="1600" dirty="0"/>
              <a:t>Tyler, T.R., 1990. Why people obey the law.</a:t>
            </a:r>
            <a:r>
              <a:rPr lang="en-US" sz="1600" dirty="0"/>
              <a:t> </a:t>
            </a:r>
          </a:p>
          <a:p>
            <a:pPr marL="0" lvl="0" indent="0">
              <a:spcBef>
                <a:spcPts val="2500"/>
              </a:spcBef>
              <a:buFont typeface="Arial" panose="020B0604020202020204" pitchFamily="34" charset="0"/>
              <a:buNone/>
            </a:pPr>
            <a:endParaRPr lang="en-US" sz="1600" dirty="0"/>
          </a:p>
          <a:p>
            <a:pPr marL="0" lvl="0" indent="0">
              <a:spcBef>
                <a:spcPts val="2500"/>
              </a:spcBef>
              <a:buFont typeface="Arial" panose="020B0604020202020204" pitchFamily="34" charset="0"/>
              <a:buNone/>
            </a:pPr>
            <a:endParaRPr lang="en-US" sz="1600" dirty="0"/>
          </a:p>
        </p:txBody>
      </p:sp>
    </p:spTree>
    <p:extLst>
      <p:ext uri="{BB962C8B-B14F-4D97-AF65-F5344CB8AC3E}">
        <p14:creationId xmlns:p14="http://schemas.microsoft.com/office/powerpoint/2010/main" val="363851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4573</TotalTime>
  <Words>833</Words>
  <Application>Microsoft Macintosh PowerPoint</Application>
  <PresentationFormat>Widescreen</PresentationFormat>
  <Paragraphs>82</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Aptos Display</vt:lpstr>
      <vt:lpstr>Arial</vt:lpstr>
      <vt:lpstr>Calibri</vt:lpstr>
      <vt:lpstr>Neue Haas Grotesk Text Pro</vt:lpstr>
      <vt:lpstr>Office Theme</vt:lpstr>
      <vt:lpstr>External shocks and police legitimacy </vt:lpstr>
      <vt:lpstr>Background </vt:lpstr>
      <vt:lpstr>Theory: The Rally-Round-the-Flag Effect</vt:lpstr>
      <vt:lpstr>Hypothesis </vt:lpstr>
      <vt:lpstr>Quasi-Experimental Design </vt:lpstr>
      <vt:lpstr>Six-Legitimacy-Related Attitudes </vt:lpstr>
      <vt:lpstr>The Two Cases </vt:lpstr>
      <vt:lpstr>Internation-to-treat effects </vt:lpstr>
      <vt:lpstr>Case Study 1 – Sweden </vt:lpstr>
      <vt:lpstr>Case Study 2: Russia</vt:lpstr>
      <vt:lpstr>Summary of Findings </vt:lpstr>
      <vt:lpstr>Implication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Enterkin, Felix Matthew</dc:creator>
  <cp:lastModifiedBy>Enterkin, Felix Matthew</cp:lastModifiedBy>
  <cp:revision>1</cp:revision>
  <dcterms:created xsi:type="dcterms:W3CDTF">2026-09-07T08:27:50Z</dcterms:created>
  <dcterms:modified xsi:type="dcterms:W3CDTF">2026-09-10T12:40:53Z</dcterms:modified>
</cp:coreProperties>
</file>